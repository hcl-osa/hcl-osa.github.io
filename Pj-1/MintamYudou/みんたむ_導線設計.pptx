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7034213" cy="101647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0B999-5048-6307-3CCE-B8E432BCB617}" v="4" dt="2026-08-04T06:30:46.388"/>
    <p1510:client id="{F2C2FBE7-9D50-38E9-157F-1AD16144A1B2}" v="6" dt="2026-08-04T06:33:0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37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8159" cy="3825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84426" y="0"/>
            <a:ext cx="3048159" cy="3825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952500"/>
            <a:ext cx="4573587" cy="25733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3422" y="3668844"/>
            <a:ext cx="5627370" cy="300178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241071"/>
            <a:ext cx="3048159" cy="3825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84426" y="7241071"/>
            <a:ext cx="3048159" cy="3825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ユーザー提供画像素材：みんたむ 公開イラスト.jpg。
ユーザー指示：狸の画像ではなく、実際に広めていきたいみんたむに置き換える。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LINE公式アカウントは、月額固定費0円/5,000円/15,000円、無料メッセージ200通/5,000通/30,000通の3プランが公式に示されている。https://www.lycbiz.com/jp/service/line-official-account/plan/
LINE Creators Marketでは、LINE PRスタンプとして公式アカウントの友だち追加などをダウンロード条件に設定できると説明されている。https://creator.line.me/ja/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ユーザー提供画像素材：等身大 みんたむ 線あり グレー.png。
LINE公式アカウントでは、メッセージ送信回数×送った友だち数を通数としてカウントし、LINEチャットの送受信や応答メッセージ等は無料で活用できると説明されている。https://www.lycbiz.com/jp/service/line-official-account/plan/
Amazon Adsは、スポンサープロダクト広告がクリック課金制広告で、クリックすると商品詳細ページへ遷移すると説明している。https://advertising.amazon.com/ja-jp/solutions/products/sponsored-products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ユーザー提供画像素材：cutin_no_top_text_preview_4.png、cutin_no_top_text_preview_1.png、cutin_no_top_text_preview_6.png、cutin_no_top_text_preview_5.png。
消費者庁は景品表示法について、景品類の最高額・総額等を規制し、過大景品による不健全な競争を防ぐと説明している。https://www.caa.go.jp/policies/policy/representation/fair_labeling/premium_regulation/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ユーザー提供画像素材：等身大 みんたむ 線あり グレー.png。
LINE公式アカウントでは1回に配信できるメッセージは最大3吹き出しまでで、メッセージを送った回数×送った友だち数を通数としてカウントすると説明されている。https://www.lycbiz.com/jp/service/line-official-account/plan/
LINE公式アカウントにはコミュニケーションプラン、ライトプラン、スタンダードプランの3プランがある。https://www.lycbiz.com/jp/service/line-official-account/plan/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Amazon Adsはスポンサープロダクト広告について、Amazon内などで商品を訴求できるクリック課金制広告で、クリックすると商品詳細ページに遷移すると説明している。https://advertising.amazon.com/ja-jp/solutions/products/sponsored-products
Amazon出品サービスはスポンサー広告により商品の発見や売上機会を高められると説明している。https://sell.amazon.co.jp/grow/advertising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ユーザー提供画像素材：等身大 みんたむ 線あり グレー.png。
LINE Creators Marketでは、通常スタンプ、アニメーションスタンプ、エフェクトスタンプ等のアイテムを制作でき、世界中のLINEユーザーに販売できると説明されている。https://creator.line.me/ja/
LINE Creators Marketでは、LINE PRスタンプとしてLINE公式アカウントの友だち追加などをダウンロード条件に設定できると説明されている。https://creator.line.me/ja/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本ロードマップは、ユーザー指定の「専用サイト」「公式LINE毎月健康チェック」「EC導線」「LINEスタンプ」を優先順位化した実行案。
LINE公式アカウントは料金プランごとに無料メッセージ通数が異なるため、友だち数と月間配信回数を基準にプラン選定が必要。https://www.lycbiz.com/jp/service/line-official-account/plan/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KPIは本企画における提案指標。実施後は実測値を基に改善する前提。
Amazon Adsはキャンペーンの広告パフォーマンスを測定できると説明している。https://advertising.amazon.com/ja-jp/solutions/products/sponsored-products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User instruction: existing EC site is created by another company; include separate-site pattern.
LINE Developers: rich menus can link to external sites and other actions. https://developers.line.biz/ja/docs/messaging-api/rich-menus-overview/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User instruction: existing EC site is created by another company; this pattern assumes pages are added under existing EC site.
LINE Developers: rich menus can link to external sites and can be configured with LINE Official Account Manager or Messaging API. https://developers.line.biz/ja/docs/messaging-api/rich-menus-overview/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User instruction: include separate-site pattern.
LINE Developers: rich menus can set links to external sites, enabling LINE as an entry point to the campaign site. https://developers.line.biz/ja/docs/messaging-api/rich-menus-overview/
LINE Official Account research features are survey-oriented; a separate site is more flexible for custom result pages and EC/Amazon links. https://spirits-ltd.com/media/line-questionnaire/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User instruction: existing EC site is created by another company; comparison includes separate campaign site pattern.
LINE Developers: rich menus support external site links, making a separate campaign site compatible with LINE entry points. https://developers.line.biz/ja/docs/messaging-api/rich-menus-overview/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5"/>
          </a:solidFill>
          <a:ln w="12700">
            <a:solidFill>
              <a:srgbClr val="FFF8F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/mnt/data/みんたむ　公開イラスト.jpg"/>
          <p:cNvPicPr>
            <a:picLocks noChangeAspect="1"/>
          </p:cNvPicPr>
          <p:nvPr/>
        </p:nvPicPr>
        <p:blipFill>
          <a:blip r:embed="rId3"/>
          <a:srcRect l="8423" r="8423"/>
          <a:stretch/>
        </p:blipFill>
        <p:spPr>
          <a:xfrm>
            <a:off x="5806440" y="320040"/>
            <a:ext cx="598932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768096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みんたむ実素材版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4360" y="1143000"/>
            <a:ext cx="5102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ja-JP" sz="2800" b="1" dirty="0" err="1">
                <a:solidFill>
                  <a:srgbClr val="2F2A28"/>
                </a:solidFill>
              </a:rPr>
              <a:t>みんたむ販促導線設計案</a:t>
            </a:r>
            <a:endParaRPr lang="en-US" altLang="ja-JP" sz="2800" dirty="0"/>
          </a:p>
        </p:txBody>
      </p:sp>
      <p:sp>
        <p:nvSpPr>
          <p:cNvPr id="7" name="Text 4"/>
          <p:cNvSpPr/>
          <p:nvPr/>
        </p:nvSpPr>
        <p:spPr>
          <a:xfrm>
            <a:off x="621792" y="2542032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ja-JP" sz="1400" dirty="0" err="1">
                <a:solidFill>
                  <a:srgbClr val="6F625C"/>
                </a:solidFill>
              </a:rPr>
              <a:t>専用サイト・公式LINE・EC導線・LINEスタンプを</a:t>
            </a:r>
            <a:endParaRPr lang="en-US" altLang="ja-JP" sz="1400" dirty="0"/>
          </a:p>
          <a:p>
            <a:r>
              <a:rPr lang="en-US" altLang="ja-JP" sz="1400" dirty="0" err="1">
                <a:solidFill>
                  <a:srgbClr val="6F625C"/>
                </a:solidFill>
              </a:rPr>
              <a:t>優先順位つきで整理</a:t>
            </a:r>
            <a:endParaRPr lang="en-US" altLang="ja-JP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685800" y="35890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専用サイト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47672" y="352044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1993392" y="35890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公式LINE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55264" y="352044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3300984" y="35890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EC/Amazon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62856" y="3520440"/>
            <a:ext cx="1078992" cy="310896"/>
          </a:xfrm>
          <a:prstGeom prst="roundRect">
            <a:avLst>
              <a:gd name="adj" fmla="val 20588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608576" y="3589020"/>
            <a:ext cx="9875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LINEスタンプ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68680" y="509778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修正方針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2A28"/>
                </a:solidFill>
              </a:rPr>
              <a:t>まずやるべき優先順位を整理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Priority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024128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22960" y="1152144"/>
            <a:ext cx="4800600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126001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最優先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645920"/>
            <a:ext cx="46177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ja-JP" sz="1100" b="0" dirty="0">
                <a:solidFill>
                  <a:srgbClr val="2F2A28"/>
                </a:solidFill>
                <a:latin typeface="Yu Gothic"/>
              </a:rPr>
              <a:t>30</a:t>
            </a:r>
            <a:r>
              <a:rPr lang="ja-JP" altLang="en-US" sz="1100" b="0" dirty="0">
                <a:solidFill>
                  <a:srgbClr val="2F2A28"/>
                </a:solidFill>
                <a:latin typeface="Yu Gothic"/>
              </a:rPr>
              <a:t>秒健康チェック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
</a:t>
            </a:r>
            <a:r>
              <a:rPr lang="ja-JP" altLang="en-US" sz="1100" dirty="0">
                <a:solidFill>
                  <a:srgbClr val="2F2A28"/>
                </a:solidFill>
                <a:latin typeface="Yu Gothic"/>
              </a:rPr>
              <a:t>みんたむ健康おみくじ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
</a:t>
            </a:r>
            <a:r>
              <a:rPr sz="1100" b="0" dirty="0" err="1">
                <a:solidFill>
                  <a:srgbClr val="2F2A28"/>
                </a:solidFill>
                <a:latin typeface="Yu Gothic"/>
              </a:rPr>
              <a:t>同じ最優先の入口施策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。
</a:t>
            </a:r>
            <a:r>
              <a:rPr lang="ja-JP" altLang="en-US" sz="1100" b="0" err="1">
                <a:solidFill>
                  <a:srgbClr val="2F2A28"/>
                </a:solidFill>
                <a:latin typeface="Yu Gothic"/>
              </a:rPr>
              <a:t>健康チェックで自分ごと化し</a:t>
            </a:r>
            <a:r>
              <a:rPr sz="1100" b="0" dirty="0" err="1">
                <a:solidFill>
                  <a:srgbClr val="2F2A28"/>
                </a:solidFill>
                <a:latin typeface="Yu Gothic"/>
              </a:rPr>
              <a:t>、</a:t>
            </a:r>
            <a:r>
              <a:rPr lang="ja-JP" altLang="en-US" sz="1100" b="0" err="1">
                <a:solidFill>
                  <a:srgbClr val="2F2A28"/>
                </a:solidFill>
                <a:latin typeface="Yu Gothic"/>
              </a:rPr>
              <a:t>おみくじで参加体験を広げる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。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3752" y="1810512"/>
            <a:ext cx="530352" cy="5303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17920" y="1024128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1"/>
          <p:cNvSpPr/>
          <p:nvPr/>
        </p:nvSpPr>
        <p:spPr>
          <a:xfrm>
            <a:off x="6355080" y="1152144"/>
            <a:ext cx="480060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6446520" y="126001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最優先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46520" y="1645920"/>
            <a:ext cx="46177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100" b="0" dirty="0" err="1">
                <a:solidFill>
                  <a:srgbClr val="2F2A28"/>
                </a:solidFill>
                <a:latin typeface="Yu Gothic"/>
              </a:rPr>
              <a:t>公式LINE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
</a:t>
            </a:r>
            <a:r>
              <a:rPr sz="1100" b="0" dirty="0" err="1">
                <a:solidFill>
                  <a:srgbClr val="2F2A28"/>
                </a:solidFill>
                <a:latin typeface="Yu Gothic"/>
              </a:rPr>
              <a:t>健康チェック</a:t>
            </a:r>
            <a:r>
              <a:rPr lang="ja-JP" altLang="en-US" sz="1100" b="0" dirty="0">
                <a:solidFill>
                  <a:srgbClr val="2F2A28"/>
                </a:solidFill>
                <a:latin typeface="Yu Gothic"/>
              </a:rPr>
              <a:t>・おみくじ</a:t>
            </a:r>
            <a:r>
              <a:rPr sz="1100" b="0" dirty="0" err="1">
                <a:solidFill>
                  <a:srgbClr val="2F2A28"/>
                </a:solidFill>
                <a:latin typeface="Yu Gothic"/>
              </a:rPr>
              <a:t>後の任意登録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。
</a:t>
            </a:r>
            <a:r>
              <a:rPr sz="1100" b="0" dirty="0" err="1">
                <a:solidFill>
                  <a:srgbClr val="2F2A28"/>
                </a:solidFill>
                <a:latin typeface="Yu Gothic"/>
              </a:rPr>
              <a:t>次回通知・毎月配信・リッチメニューで再訪を作る</a:t>
            </a:r>
            <a:r>
              <a:rPr sz="1100" b="0" dirty="0">
                <a:solidFill>
                  <a:srgbClr val="2F2A28"/>
                </a:solidFill>
                <a:latin typeface="Yu Gothic"/>
              </a:rPr>
              <a:t>。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5872" y="1810512"/>
            <a:ext cx="530352" cy="53035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5800" y="3355848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EAF2FF"/>
          </a:solidFill>
          <a:ln w="13335">
            <a:solidFill>
              <a:srgbClr val="5C8ED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822960" y="3483864"/>
            <a:ext cx="4800600" cy="347472"/>
          </a:xfrm>
          <a:prstGeom prst="roundRect">
            <a:avLst>
              <a:gd name="adj" fmla="val 15789"/>
            </a:avLst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914400" y="359173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優先 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914400" y="3977640"/>
            <a:ext cx="46177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EC/Amazon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購入ページ改善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不安を解消して購入へ。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使い方・流れ・安心ポイントを整理。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3752" y="4142232"/>
            <a:ext cx="530352" cy="53035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17920" y="3355848"/>
            <a:ext cx="5074920" cy="1783080"/>
          </a:xfrm>
          <a:prstGeom prst="roundRect">
            <a:avLst>
              <a:gd name="adj" fmla="val 4103"/>
            </a:avLst>
          </a:prstGeom>
          <a:solidFill>
            <a:srgbClr val="FFE6EE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19"/>
          <p:cNvSpPr/>
          <p:nvPr/>
        </p:nvSpPr>
        <p:spPr>
          <a:xfrm>
            <a:off x="6355080" y="3483864"/>
            <a:ext cx="4800600" cy="347472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/>
          <p:nvPr/>
        </p:nvSpPr>
        <p:spPr>
          <a:xfrm>
            <a:off x="6446520" y="359173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優先 4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46520" y="3977640"/>
            <a:ext cx="461772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LINEスタンプ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拡散・親近感づくり。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販売よりも友だち追加・企業認知に使う。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5872" y="4142232"/>
            <a:ext cx="530352" cy="53035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98926" y="5934456"/>
            <a:ext cx="10469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4"/>
          <p:cNvSpPr/>
          <p:nvPr/>
        </p:nvSpPr>
        <p:spPr>
          <a:xfrm>
            <a:off x="1005840" y="6039612"/>
            <a:ext cx="10012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判断基準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 rot="-10800000" flipV="1">
            <a:off x="1232370" y="5974039"/>
            <a:ext cx="1001268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050" b="0" dirty="0">
                <a:solidFill>
                  <a:srgbClr val="2F2A28"/>
                </a:solidFill>
                <a:latin typeface="Yu Gothic"/>
              </a:rPr>
              <a:t>売上に近い入口から先に作る。</a:t>
            </a:r>
            <a:r>
              <a:rPr lang="ja-JP" altLang="en-US" sz="1050" b="0">
                <a:solidFill>
                  <a:srgbClr val="2F2A28"/>
                </a:solidFill>
                <a:latin typeface="Yu Gothic"/>
              </a:rPr>
              <a:t>30秒健康チェックとおみくじを並行して整備し</a:t>
            </a:r>
            <a:r>
              <a:rPr sz="1050" b="0" dirty="0">
                <a:solidFill>
                  <a:srgbClr val="2F2A28"/>
                </a:solidFill>
                <a:latin typeface="Yu Gothic"/>
              </a:rPr>
              <a:t>、LINEはその後の継続接点にする。</a:t>
            </a:r>
            <a:endParaRPr lang="en-US" sz="1100" dirty="0"/>
          </a:p>
        </p:txBody>
      </p:sp>
      <p:sp>
        <p:nvSpPr>
          <p:cNvPr id="32" name="Rounded Rectangle 31"/>
          <p:cNvSpPr/>
          <p:nvPr/>
        </p:nvSpPr>
        <p:spPr>
          <a:xfrm>
            <a:off x="685800" y="5344126"/>
            <a:ext cx="10521214" cy="41148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4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14344" y="5459813"/>
            <a:ext cx="8452171" cy="22775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ja-JP" altLang="en-US" sz="1000" b="1" err="1">
                <a:solidFill>
                  <a:srgbClr val="2F2A28"/>
                </a:solidFill>
                <a:latin typeface="Yu Gothic"/>
              </a:rPr>
              <a:t>おみくじ</a:t>
            </a:r>
            <a:r>
              <a:rPr lang="ja-JP" altLang="en-US" sz="1000" b="1">
                <a:solidFill>
                  <a:srgbClr val="2F2A28"/>
                </a:solidFill>
                <a:latin typeface="Yu Gothic"/>
              </a:rPr>
              <a:t> </a:t>
            </a:r>
            <a:r>
              <a:rPr sz="1000" b="1" dirty="0">
                <a:solidFill>
                  <a:srgbClr val="2F2A28"/>
                </a:solidFill>
                <a:latin typeface="Yu Gothic"/>
              </a:rPr>
              <a:t>→ LINE → 30秒健康チェックではなく、</a:t>
            </a:r>
            <a:r>
              <a:rPr lang="ja-JP" altLang="en-US" sz="1000" b="1">
                <a:solidFill>
                  <a:srgbClr val="2F2A28"/>
                </a:solidFill>
                <a:latin typeface="Yu Gothic"/>
              </a:rPr>
              <a:t>30秒健康チェックとおみくじを組み合わせ</a:t>
            </a:r>
            <a:r>
              <a:rPr sz="1000" b="1" dirty="0">
                <a:solidFill>
                  <a:srgbClr val="2F2A28"/>
                </a:solidFill>
                <a:latin typeface="Yu Gothic"/>
              </a:rPr>
              <a:t>、その後LINEで継続接点化する。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2A28"/>
                </a:solidFill>
              </a:rPr>
              <a:t>全体導線：人を集める場所と買ってもらう場所を分ける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23317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5240">
            <a:solidFill>
              <a:srgbClr val="F4A4B8"/>
            </a:solidFill>
            <a:prstDash val="solid"/>
          </a:ln>
          <a:effectLst>
            <a:outerShdw blurRad="1270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40664" y="1481328"/>
            <a:ext cx="420624" cy="420624"/>
          </a:xfrm>
          <a:prstGeom prst="ellipse">
            <a:avLst/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77824" y="16093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2A28"/>
                </a:solidFill>
              </a:rPr>
              <a:t>接点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F625C"/>
                </a:solidFill>
              </a:rPr>
              <a:t>SNS・地域イベント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F625C"/>
                </a:solidFill>
              </a:rPr>
              <a:t>チラシQR・社内掲示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81528" y="2057400"/>
            <a:ext cx="301752" cy="438912"/>
          </a:xfrm>
          <a:prstGeom prst="chevron">
            <a:avLst/>
          </a:prstGeom>
          <a:solidFill>
            <a:srgbClr val="E8D8CA"/>
          </a:solidFill>
          <a:ln w="1270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493008" y="1325880"/>
            <a:ext cx="23317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5240">
            <a:solidFill>
              <a:srgbClr val="58B9B7"/>
            </a:solidFill>
            <a:prstDash val="solid"/>
          </a:ln>
          <a:effectLst>
            <a:outerShdw blurRad="1270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639312" y="1481328"/>
            <a:ext cx="420624" cy="420624"/>
          </a:xfrm>
          <a:prstGeom prst="ellipse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776472" y="16093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7880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2A28"/>
                </a:solidFill>
              </a:rPr>
              <a:t>入口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21608" y="2029968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ja-JP" sz="1200" b="0" dirty="0">
                <a:solidFill>
                  <a:srgbClr val="6F625C"/>
                </a:solidFill>
                <a:latin typeface="Yu Gothic"/>
              </a:rPr>
              <a:t>1</a:t>
            </a:r>
            <a:r>
              <a:rPr lang="ja-JP" altLang="en-US" sz="1200" b="0" dirty="0">
                <a:solidFill>
                  <a:srgbClr val="6F625C"/>
                </a:solidFill>
                <a:latin typeface="Yu Gothic"/>
              </a:rPr>
              <a:t>．</a:t>
            </a:r>
            <a:r>
              <a:rPr lang="en-US" altLang="ja-JP" sz="1200" dirty="0">
                <a:solidFill>
                  <a:srgbClr val="6F625C"/>
                </a:solidFill>
                <a:latin typeface="Yu Gothic"/>
              </a:rPr>
              <a:t>30</a:t>
            </a:r>
            <a:r>
              <a:rPr lang="ja-JP" altLang="en-US" sz="1200" dirty="0">
                <a:solidFill>
                  <a:srgbClr val="6F625C"/>
                </a:solidFill>
                <a:latin typeface="Yu Gothic"/>
              </a:rPr>
              <a:t>秒健康チェック</a:t>
            </a:r>
            <a:endParaRPr lang="en-US" sz="1200" dirty="0">
              <a:solidFill>
                <a:srgbClr val="6F625C"/>
              </a:solidFill>
              <a:latin typeface="Yu Gothic"/>
            </a:endParaRPr>
          </a:p>
          <a:p>
            <a:r>
              <a:rPr lang="en-US" altLang="ja-JP" sz="1200" b="0" dirty="0">
                <a:solidFill>
                  <a:srgbClr val="6F625C"/>
                </a:solidFill>
                <a:latin typeface="Yu Gothic"/>
              </a:rPr>
              <a:t>2</a:t>
            </a:r>
            <a:r>
              <a:rPr lang="ja-JP" altLang="en-US" sz="1200" b="0" dirty="0">
                <a:solidFill>
                  <a:srgbClr val="6F625C"/>
                </a:solidFill>
                <a:latin typeface="Yu Gothic"/>
              </a:rPr>
              <a:t>．</a:t>
            </a:r>
            <a:r>
              <a:rPr lang="ja-JP" altLang="en-US" sz="1200" dirty="0">
                <a:solidFill>
                  <a:srgbClr val="6F625C"/>
                </a:solidFill>
                <a:latin typeface="Yu Gothic"/>
              </a:rPr>
              <a:t>みんたむ健康おみくじ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980176" y="2057400"/>
            <a:ext cx="301752" cy="438912"/>
          </a:xfrm>
          <a:prstGeom prst="chevron">
            <a:avLst/>
          </a:prstGeom>
          <a:solidFill>
            <a:srgbClr val="E8D8CA"/>
          </a:solidFill>
          <a:ln w="1270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391656" y="1325880"/>
            <a:ext cx="23317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5240">
            <a:solidFill>
              <a:srgbClr val="45AE6A"/>
            </a:solidFill>
            <a:prstDash val="solid"/>
          </a:ln>
          <a:effectLst>
            <a:outerShdw blurRad="1270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537960" y="1481328"/>
            <a:ext cx="420624" cy="420624"/>
          </a:xfrm>
          <a:prstGeom prst="ellipse">
            <a:avLst/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675120" y="16093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77456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2A28"/>
                </a:solidFill>
              </a:rPr>
              <a:t>関係化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0256" y="2029968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sz="1200" b="0" dirty="0" err="1">
                <a:solidFill>
                  <a:srgbClr val="6F625C"/>
                </a:solidFill>
                <a:latin typeface="Yu Gothic"/>
              </a:rPr>
              <a:t>公式LINE</a:t>
            </a:r>
            <a:r>
              <a:rPr sz="1200" b="0" dirty="0">
                <a:solidFill>
                  <a:srgbClr val="6F625C"/>
                </a:solidFill>
                <a:latin typeface="Yu Gothic"/>
              </a:rPr>
              <a:t>
</a:t>
            </a:r>
            <a:r>
              <a:rPr sz="1200" b="0" dirty="0" err="1">
                <a:solidFill>
                  <a:srgbClr val="6F625C"/>
                </a:solidFill>
                <a:latin typeface="Yu Gothic"/>
              </a:rPr>
              <a:t>任意登録・次回通知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878824" y="2057400"/>
            <a:ext cx="301752" cy="438912"/>
          </a:xfrm>
          <a:prstGeom prst="chevron">
            <a:avLst/>
          </a:prstGeom>
          <a:solidFill>
            <a:srgbClr val="E8D8CA"/>
          </a:solidFill>
          <a:ln w="1270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290304" y="1325880"/>
            <a:ext cx="2331720" cy="187452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15240">
            <a:solidFill>
              <a:srgbClr val="5C8ED7"/>
            </a:solidFill>
            <a:prstDash val="solid"/>
          </a:ln>
          <a:effectLst>
            <a:outerShdw blurRad="1270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436608" y="1481328"/>
            <a:ext cx="420624" cy="420624"/>
          </a:xfrm>
          <a:prstGeom prst="ellipse">
            <a:avLst/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9573768" y="1609344"/>
            <a:ext cx="128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976104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F2A28"/>
                </a:solidFill>
              </a:rPr>
              <a:t>購入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18904" y="2029968"/>
            <a:ext cx="18745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F625C"/>
                </a:solidFill>
              </a:rPr>
              <a:t>ECサイト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F625C"/>
                </a:solidFill>
              </a:rPr>
              <a:t>Amazon商品ページ</a:t>
            </a:r>
            <a:endParaRPr lang="en-US" sz="1200" dirty="0"/>
          </a:p>
        </p:txBody>
      </p:sp>
      <p:pic>
        <p:nvPicPr>
          <p:cNvPr id="31" name="Image 0" descr="/mnt/data/等身大　みんたむ　線あり　グレ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27" y="3977640"/>
            <a:ext cx="1538786" cy="196596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2971800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E6EE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0"/>
          <p:cNvSpPr/>
          <p:nvPr/>
        </p:nvSpPr>
        <p:spPr>
          <a:xfrm>
            <a:off x="3108960" y="4105656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1"/>
          <p:cNvSpPr/>
          <p:nvPr/>
        </p:nvSpPr>
        <p:spPr>
          <a:xfrm>
            <a:off x="3200400" y="418338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SNSの役割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200400" y="4599432"/>
            <a:ext cx="20574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950" b="0" dirty="0" err="1">
                <a:solidFill>
                  <a:srgbClr val="2F2A28"/>
                </a:solidFill>
                <a:latin typeface="Yu Gothic"/>
              </a:rPr>
              <a:t>知ってもらう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。
</a:t>
            </a:r>
            <a:r>
              <a:rPr lang="ja-JP" altLang="en-US" sz="950" b="0">
                <a:solidFill>
                  <a:srgbClr val="2F2A28"/>
                </a:solidFill>
                <a:latin typeface="Yu Gothic"/>
              </a:rPr>
              <a:t>健康チェック</a:t>
            </a:r>
            <a:r>
              <a:rPr sz="950" b="0" dirty="0" err="1">
                <a:solidFill>
                  <a:srgbClr val="2F2A28"/>
                </a:solidFill>
                <a:latin typeface="Yu Gothic"/>
              </a:rPr>
              <a:t>・</a:t>
            </a:r>
            <a:r>
              <a:rPr lang="ja-JP" altLang="en-US" sz="950" b="0" err="1">
                <a:solidFill>
                  <a:srgbClr val="2F2A28"/>
                </a:solidFill>
                <a:latin typeface="Yu Gothic"/>
              </a:rPr>
              <a:t>おみくじ企画</a:t>
            </a:r>
            <a:r>
              <a:rPr sz="950" b="0" dirty="0" err="1">
                <a:solidFill>
                  <a:srgbClr val="2F2A28"/>
                </a:solidFill>
                <a:latin typeface="Yu Gothic"/>
              </a:rPr>
              <a:t>・健康豆知識で専用サイトへ誘導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。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687568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4"/>
          <p:cNvSpPr/>
          <p:nvPr/>
        </p:nvSpPr>
        <p:spPr>
          <a:xfrm>
            <a:off x="5824728" y="4105656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5"/>
          <p:cNvSpPr/>
          <p:nvPr/>
        </p:nvSpPr>
        <p:spPr>
          <a:xfrm>
            <a:off x="5916168" y="418338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LINEの役割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16168" y="4599432"/>
            <a:ext cx="20574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950" b="0" dirty="0" err="1">
                <a:solidFill>
                  <a:srgbClr val="2F2A28"/>
                </a:solidFill>
                <a:latin typeface="Yu Gothic"/>
              </a:rPr>
              <a:t>任意登録で継続接点を作る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。
</a:t>
            </a:r>
            <a:r>
              <a:rPr lang="ja-JP" altLang="en-US" sz="950" b="0">
                <a:solidFill>
                  <a:srgbClr val="2F2A28"/>
                </a:solidFill>
                <a:latin typeface="Yu Gothic"/>
              </a:rPr>
              <a:t>健康チェック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・</a:t>
            </a:r>
            <a:r>
              <a:rPr lang="ja-JP" altLang="en-US" sz="950" b="0" err="1">
                <a:solidFill>
                  <a:srgbClr val="2F2A28"/>
                </a:solidFill>
                <a:latin typeface="Yu Gothic"/>
              </a:rPr>
              <a:t>おみくじに再訪してもらう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。</a:t>
            </a:r>
            <a:endParaRPr lang="en-US" sz="900" dirty="0">
              <a:latin typeface="Noto Sans CJK JP 本文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412480" y="39776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3335">
            <a:solidFill>
              <a:srgbClr val="5C8ED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8"/>
          <p:cNvSpPr/>
          <p:nvPr/>
        </p:nvSpPr>
        <p:spPr>
          <a:xfrm>
            <a:off x="8549640" y="4105656"/>
            <a:ext cx="2240280" cy="347472"/>
          </a:xfrm>
          <a:prstGeom prst="roundRect">
            <a:avLst>
              <a:gd name="adj" fmla="val 15789"/>
            </a:avLst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9"/>
          <p:cNvSpPr/>
          <p:nvPr/>
        </p:nvSpPr>
        <p:spPr>
          <a:xfrm>
            <a:off x="8641080" y="418338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ECの役割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641080" y="4599432"/>
            <a:ext cx="21488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</a:rPr>
              <a:t>迷いを解消して買ってもらう。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</a:rPr>
              <a:t>流れ・安心ポイント・比較を整理。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sz="2000" b="1">
                <a:solidFill>
                  <a:srgbClr val="2F2A28"/>
                </a:solidFill>
                <a:latin typeface="Yu Gothic"/>
              </a:rPr>
              <a:t>最優先：専用サイトで「</a:t>
            </a:r>
            <a:r>
              <a:rPr lang="ja-JP" altLang="en-US" sz="2000" b="1">
                <a:solidFill>
                  <a:srgbClr val="2F2A28"/>
                </a:solidFill>
                <a:latin typeface="Yu Gothic"/>
              </a:rPr>
              <a:t>30秒健康チェック</a:t>
            </a:r>
            <a:r>
              <a:rPr sz="2000" b="1">
                <a:solidFill>
                  <a:srgbClr val="2F2A28"/>
                </a:solidFill>
                <a:latin typeface="Yu Gothic"/>
              </a:rPr>
              <a:t>」と「</a:t>
            </a:r>
            <a:r>
              <a:rPr lang="ja-JP" altLang="en-US" sz="2000" b="1">
                <a:solidFill>
                  <a:srgbClr val="2F2A28"/>
                </a:solidFill>
                <a:latin typeface="Yu Gothic"/>
              </a:rPr>
              <a:t>おみくじ</a:t>
            </a:r>
            <a:r>
              <a:rPr sz="2000" b="1">
                <a:solidFill>
                  <a:srgbClr val="2F2A28"/>
                </a:solidFill>
                <a:latin typeface="Yu Gothic"/>
              </a:rPr>
              <a:t>」を並行して作る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専用サイト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96012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5240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/mnt/data/cutin_no_top_text_preview_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4545" y="1552820"/>
            <a:ext cx="1645920" cy="1645920"/>
          </a:xfrm>
          <a:prstGeom prst="rect">
            <a:avLst/>
          </a:prstGeom>
        </p:spPr>
      </p:pic>
      <p:pic>
        <p:nvPicPr>
          <p:cNvPr id="10" name="Image 1" descr="/mnt/data/cutin_no_top_text_preview_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54513" y="1552820"/>
            <a:ext cx="1645920" cy="1645920"/>
          </a:xfrm>
          <a:prstGeom prst="rect">
            <a:avLst/>
          </a:prstGeom>
        </p:spPr>
      </p:pic>
      <p:pic>
        <p:nvPicPr>
          <p:cNvPr id="11" name="Image 2" descr="/mnt/data/cutin_no_top_text_preview_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4545" y="3399908"/>
            <a:ext cx="1645920" cy="1645920"/>
          </a:xfrm>
          <a:prstGeom prst="rect">
            <a:avLst/>
          </a:prstGeom>
        </p:spPr>
      </p:pic>
      <p:pic>
        <p:nvPicPr>
          <p:cNvPr id="12" name="Image 3" descr="/mnt/data/cutin_no_top_text_preview_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54513" y="3399908"/>
            <a:ext cx="1645920" cy="16459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532120" y="960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8"/>
          <p:cNvSpPr/>
          <p:nvPr/>
        </p:nvSpPr>
        <p:spPr>
          <a:xfrm>
            <a:off x="5669280" y="1088136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9"/>
          <p:cNvSpPr/>
          <p:nvPr/>
        </p:nvSpPr>
        <p:spPr>
          <a:xfrm>
            <a:off x="5760720" y="11658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サイトの目的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5760720" y="1559052"/>
            <a:ext cx="21031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sz="1000" b="0" dirty="0">
                <a:solidFill>
                  <a:srgbClr val="2F2A28"/>
                </a:solidFill>
                <a:latin typeface="Yu Gothic"/>
              </a:rPr>
              <a:t>30秒健康チェックで自分ごと化し</a:t>
            </a:r>
            <a:r>
              <a:rPr lang="ja-JP" altLang="en-US" sz="1000" b="0">
                <a:solidFill>
                  <a:srgbClr val="2F2A28"/>
                </a:solidFill>
                <a:latin typeface="Yu Gothic"/>
              </a:rPr>
              <a:t>、おみくじの参加体験で興味を広げ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、検査キット理解につなげる。LINE登録は任意導線にする。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8394192" y="9601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2"/>
          <p:cNvSpPr/>
          <p:nvPr/>
        </p:nvSpPr>
        <p:spPr>
          <a:xfrm>
            <a:off x="8531352" y="1088136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3"/>
          <p:cNvSpPr/>
          <p:nvPr/>
        </p:nvSpPr>
        <p:spPr>
          <a:xfrm>
            <a:off x="8622792" y="11658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必要機能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549640" y="1522476"/>
            <a:ext cx="2286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ja-JP" altLang="en-US" sz="1000" b="0">
                <a:solidFill>
                  <a:srgbClr val="2F2A28"/>
                </a:solidFill>
                <a:latin typeface="Yu Gothic"/>
              </a:rPr>
              <a:t>30秒健康チェック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、</a:t>
            </a:r>
            <a:r>
              <a:rPr lang="ja-JP" altLang="en-US" sz="1000" b="0">
                <a:solidFill>
                  <a:srgbClr val="2F2A28"/>
                </a:solidFill>
                <a:latin typeface="Yu Gothic"/>
              </a:rPr>
              <a:t>おみくじ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、景品表示、関連検査紹介、ECリンク、LINE任意登録、注意事項。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532120" y="2651760"/>
            <a:ext cx="25603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143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6"/>
          <p:cNvSpPr/>
          <p:nvPr/>
        </p:nvSpPr>
        <p:spPr>
          <a:xfrm>
            <a:off x="5678424" y="283464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2A28"/>
                </a:solidFill>
              </a:rPr>
              <a:t>1. QR・SNSから訪問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412480" y="2651760"/>
            <a:ext cx="25603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143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8"/>
          <p:cNvSpPr/>
          <p:nvPr/>
        </p:nvSpPr>
        <p:spPr>
          <a:xfrm>
            <a:off x="8558784" y="283464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2A28"/>
                </a:solidFill>
              </a:rPr>
              <a:t>2. </a:t>
            </a:r>
            <a:r>
              <a:rPr lang="en-US" sz="1050" b="1">
                <a:solidFill>
                  <a:srgbClr val="2F2A28"/>
                </a:solidFill>
              </a:rPr>
              <a:t>30秒健康チェックに答える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532120" y="3602736"/>
            <a:ext cx="25603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143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0"/>
          <p:cNvSpPr/>
          <p:nvPr/>
        </p:nvSpPr>
        <p:spPr>
          <a:xfrm>
            <a:off x="5678424" y="378561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F2A28"/>
                </a:solidFill>
              </a:rPr>
              <a:t>3. 結果・演出を見る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412480" y="3602736"/>
            <a:ext cx="25603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143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2"/>
          <p:cNvSpPr/>
          <p:nvPr/>
        </p:nvSpPr>
        <p:spPr>
          <a:xfrm>
            <a:off x="8558784" y="3785616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sz="1050" b="1" dirty="0">
                <a:solidFill>
                  <a:srgbClr val="2F2A28"/>
                </a:solidFill>
                <a:latin typeface="Yu Gothic"/>
              </a:rPr>
              <a:t>4. </a:t>
            </a:r>
            <a:r>
              <a:rPr sz="1050" b="1" dirty="0" err="1">
                <a:solidFill>
                  <a:srgbClr val="2F2A28"/>
                </a:solidFill>
                <a:latin typeface="Yu Gothic"/>
              </a:rPr>
              <a:t>クーポンをその場で表示</a:t>
            </a:r>
            <a:endParaRPr lang="en-US" sz="1050" b="1" dirty="0">
              <a:latin typeface="Noto Sans CJK JP 本文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5532120" y="4553712"/>
            <a:ext cx="256032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143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4"/>
          <p:cNvSpPr/>
          <p:nvPr/>
        </p:nvSpPr>
        <p:spPr>
          <a:xfrm>
            <a:off x="5678424" y="473659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sz="1050" b="1">
                <a:solidFill>
                  <a:srgbClr val="2F2A28"/>
                </a:solidFill>
                <a:latin typeface="Yu Gothic"/>
              </a:rPr>
              <a:t>5. </a:t>
            </a:r>
            <a:r>
              <a:rPr lang="ja-JP" altLang="en-US" sz="1050" b="1">
                <a:solidFill>
                  <a:srgbClr val="2F2A28"/>
                </a:solidFill>
                <a:latin typeface="Yu Gothic"/>
              </a:rPr>
              <a:t>健康おみくじ</a:t>
            </a:r>
            <a:r>
              <a:rPr sz="1050" b="1">
                <a:solidFill>
                  <a:srgbClr val="2F2A28"/>
                </a:solidFill>
                <a:latin typeface="Yu Gothic"/>
              </a:rPr>
              <a:t>・関連キットへ誘導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532120" y="5577840"/>
            <a:ext cx="54406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7"/>
          <p:cNvSpPr/>
          <p:nvPr/>
        </p:nvSpPr>
        <p:spPr>
          <a:xfrm>
            <a:off x="5760720" y="578358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重要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 rot="-10800000" flipV="1">
            <a:off x="5760720" y="5643108"/>
            <a:ext cx="519379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 err="1">
                <a:solidFill>
                  <a:srgbClr val="2F2A28"/>
                </a:solidFill>
              </a:rPr>
              <a:t>景品目的ではなく「健康を見直すきっかけ」として設計する。購入条件はつけない</a:t>
            </a:r>
            <a:r>
              <a:rPr lang="en-US" sz="1050" dirty="0">
                <a:solidFill>
                  <a:srgbClr val="2F2A28"/>
                </a:solidFill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000" b="1">
                <a:solidFill>
                  <a:srgbClr val="2F2A28"/>
                </a:solidFill>
                <a:latin typeface="Yu Gothic"/>
              </a:rPr>
              <a:t>公式LINE：</a:t>
            </a:r>
            <a:r>
              <a:rPr lang="ja-JP" altLang="en-US" sz="2000" b="1">
                <a:solidFill>
                  <a:srgbClr val="2F2A28"/>
                </a:solidFill>
                <a:latin typeface="Yu Gothic"/>
              </a:rPr>
              <a:t>30秒健康チェック</a:t>
            </a:r>
            <a:r>
              <a:rPr sz="2000" b="1">
                <a:solidFill>
                  <a:srgbClr val="2F2A28"/>
                </a:solidFill>
                <a:latin typeface="Yu Gothic"/>
              </a:rPr>
              <a:t>・</a:t>
            </a:r>
            <a:r>
              <a:rPr lang="ja-JP" altLang="en-US" sz="2000" b="1">
                <a:solidFill>
                  <a:srgbClr val="2F2A28"/>
                </a:solidFill>
                <a:latin typeface="Yu Gothic"/>
              </a:rPr>
              <a:t>おみくじ後の再訪導線にする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LINE施策</a:t>
            </a:r>
            <a:endParaRPr lang="en-US" sz="900" dirty="0"/>
          </a:p>
        </p:txBody>
      </p:sp>
      <p:pic>
        <p:nvPicPr>
          <p:cNvPr id="8" name="Image 0" descr="/mnt/data/等身大　みんたむ　線あり　グレ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8" y="760202"/>
            <a:ext cx="1234440" cy="15771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078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2F2A28"/>
                </a:solidFill>
                <a:latin typeface="Yu Gothic"/>
              </a:rPr>
              <a:t>月1回、専用サイトの30秒健康チェックへ案内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47088" y="15361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0">
                <a:solidFill>
                  <a:srgbClr val="6F625C"/>
                </a:solidFill>
                <a:latin typeface="Yu Gothic"/>
              </a:rPr>
              <a:t>質問は5問まで。診断自体は専用サイトで実施し、LINEは通知・再訪・リッチメニューの入口として活用する。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423160"/>
            <a:ext cx="38404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1051560" y="2514600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1. 最近疲れやすい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8680" y="2926080"/>
            <a:ext cx="38404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1051560" y="3017520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2. 食生活が偏りがち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8680" y="3429000"/>
            <a:ext cx="38404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1051560" y="3520440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3. 健診をしばらく受けていない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8680" y="3931920"/>
            <a:ext cx="38404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1051560" y="4023360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4. 家族の健康も気になる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8680" y="4434840"/>
            <a:ext cx="384048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1051560" y="4526280"/>
            <a:ext cx="3474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5. 自宅で手軽に確認したい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166360" y="205740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19"/>
          <p:cNvSpPr/>
          <p:nvPr/>
        </p:nvSpPr>
        <p:spPr>
          <a:xfrm>
            <a:off x="5303520" y="218541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5394960" y="22631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Aタイプ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94960" y="2679192"/>
            <a:ext cx="14630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まずは基本チェック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関連キットへ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0" y="205740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7452360" y="218541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7543800" y="22631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Bタイプ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43800" y="2679192"/>
            <a:ext cx="14630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生活習慣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見直しタイプ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関連キットへ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464040" y="2057400"/>
            <a:ext cx="1920240" cy="1965960"/>
          </a:xfrm>
          <a:prstGeom prst="roundRect">
            <a:avLst>
              <a:gd name="adj" fmla="val 3810"/>
            </a:avLst>
          </a:prstGeom>
          <a:solidFill>
            <a:srgbClr val="FFE6EE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7"/>
          <p:cNvSpPr/>
          <p:nvPr/>
        </p:nvSpPr>
        <p:spPr>
          <a:xfrm>
            <a:off x="9601200" y="2185416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/>
          <p:nvPr/>
        </p:nvSpPr>
        <p:spPr>
          <a:xfrm>
            <a:off x="9692640" y="22631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Cタイプ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692640" y="2679192"/>
            <a:ext cx="146304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家族で確認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タイプ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F2A28"/>
                </a:solidFill>
              </a:rPr>
              <a:t>関連キットへ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166360" y="4316291"/>
            <a:ext cx="6217920" cy="534601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2"/>
          <p:cNvSpPr/>
          <p:nvPr/>
        </p:nvSpPr>
        <p:spPr>
          <a:xfrm>
            <a:off x="5394960" y="4850892"/>
            <a:ext cx="5760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配信イメージ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394960" y="4459112"/>
            <a:ext cx="5760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950" b="0" dirty="0" err="1">
                <a:solidFill>
                  <a:srgbClr val="2F2A28"/>
                </a:solidFill>
                <a:latin typeface="Yu Gothic"/>
              </a:rPr>
              <a:t>LINE配信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 → 30秒健康チェックページ → </a:t>
            </a:r>
            <a:r>
              <a:rPr sz="950" b="0" dirty="0" err="1">
                <a:solidFill>
                  <a:srgbClr val="2F2A28"/>
                </a:solidFill>
                <a:latin typeface="Yu Gothic"/>
              </a:rPr>
              <a:t>診断結果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 → </a:t>
            </a:r>
            <a:r>
              <a:rPr sz="950" b="0" dirty="0" err="1">
                <a:solidFill>
                  <a:srgbClr val="2F2A28"/>
                </a:solidFill>
                <a:latin typeface="Yu Gothic"/>
              </a:rPr>
              <a:t>おすすめ検査の紹介</a:t>
            </a:r>
            <a:r>
              <a:rPr sz="950" b="0" dirty="0">
                <a:solidFill>
                  <a:srgbClr val="2F2A28"/>
                </a:solidFill>
                <a:latin typeface="Yu Gothic"/>
              </a:rPr>
              <a:t> → </a:t>
            </a:r>
            <a:r>
              <a:rPr sz="950" b="0" dirty="0" err="1">
                <a:solidFill>
                  <a:srgbClr val="2F2A28"/>
                </a:solidFill>
                <a:latin typeface="Yu Gothic"/>
              </a:rPr>
              <a:t>ECサイト・Amazonへ</a:t>
            </a:r>
            <a:endParaRPr lang="en-US" sz="1200" dirty="0"/>
          </a:p>
        </p:txBody>
      </p:sp>
      <p:sp>
        <p:nvSpPr>
          <p:cNvPr id="37" name="Rounded Rectangle 36"/>
          <p:cNvSpPr/>
          <p:nvPr/>
        </p:nvSpPr>
        <p:spPr>
          <a:xfrm>
            <a:off x="685800" y="5650992"/>
            <a:ext cx="10817352" cy="502920"/>
          </a:xfrm>
          <a:prstGeom prst="roundRect">
            <a:avLst/>
          </a:prstGeom>
          <a:solidFill>
            <a:srgbClr val="FFF5D6"/>
          </a:solidFill>
          <a:ln w="12700">
            <a:solidFill>
              <a:srgbClr val="F4A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815584"/>
            <a:ext cx="10451592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050" b="1">
                <a:solidFill>
                  <a:srgbClr val="2F2A28"/>
                </a:solidFill>
                <a:latin typeface="Yu Gothic"/>
              </a:rPr>
              <a:t>LINE登録は必須にしない。</a:t>
            </a:r>
            <a:r>
              <a:rPr lang="ja-JP" altLang="en-US" sz="1050" b="1">
                <a:solidFill>
                  <a:srgbClr val="2F2A28"/>
                </a:solidFill>
                <a:latin typeface="Yu Gothic"/>
              </a:rPr>
              <a:t>30秒健康チェックとおみくじの後に</a:t>
            </a:r>
            <a:r>
              <a:rPr sz="1050" b="1">
                <a:solidFill>
                  <a:srgbClr val="2F2A28"/>
                </a:solidFill>
                <a:latin typeface="Yu Gothic"/>
              </a:rPr>
              <a:t>、次回通知・毎月配信用の任意導線として設置する。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8229600" cy="3508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800" b="1" dirty="0" err="1">
                <a:solidFill>
                  <a:srgbClr val="2F2A28"/>
                </a:solidFill>
                <a:latin typeface="Yu Gothic"/>
              </a:rPr>
              <a:t>LINE登録は「必須」ではなく「任意の継続接点」にする</a:t>
            </a:r>
            <a:endParaRPr sz="1800" b="1" dirty="0">
              <a:solidFill>
                <a:srgbClr val="2F2A28"/>
              </a:solidFill>
              <a:latin typeface="Yu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61320" y="237744"/>
            <a:ext cx="1005840" cy="1371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700" b="0">
                <a:solidFill>
                  <a:srgbClr val="6F625C"/>
                </a:solidFill>
                <a:latin typeface="Yu Gothic"/>
              </a:rPr>
              <a:t>LINE導線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356616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B8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2648" y="1115568"/>
            <a:ext cx="3346704" cy="347472"/>
          </a:xfrm>
          <a:prstGeom prst="roundRect">
            <a:avLst/>
          </a:prstGeom>
          <a:solidFill>
            <a:srgbClr val="EB8BA6"/>
          </a:solidFill>
          <a:ln w="12700">
            <a:solidFill>
              <a:srgbClr val="EB8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188720"/>
            <a:ext cx="3236976" cy="10972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避けたい導線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" y="1618488"/>
            <a:ext cx="3456432" cy="115108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ja-JP" altLang="en-US" sz="1000" b="0" err="1">
                <a:solidFill>
                  <a:srgbClr val="2F2A28"/>
                </a:solidFill>
                <a:latin typeface="Yu Gothic"/>
              </a:rPr>
              <a:t>おみくじ参加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
↓
</a:t>
            </a:r>
            <a:r>
              <a:rPr sz="1000" b="0" dirty="0" err="1">
                <a:solidFill>
                  <a:srgbClr val="2F2A28"/>
                </a:solidFill>
                <a:latin typeface="Yu Gothic"/>
              </a:rPr>
              <a:t>当選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
↓
</a:t>
            </a:r>
            <a:r>
              <a:rPr sz="1000" b="0" dirty="0" err="1">
                <a:solidFill>
                  <a:srgbClr val="2F2A28"/>
                </a:solidFill>
                <a:latin typeface="Yu Gothic"/>
              </a:rPr>
              <a:t>クーポン受取にはLINE登録必須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
</a:t>
            </a:r>
            <a:r>
              <a:rPr sz="1000" b="0" dirty="0" err="1">
                <a:solidFill>
                  <a:srgbClr val="2F2A28"/>
                </a:solidFill>
                <a:latin typeface="Yu Gothic"/>
              </a:rPr>
              <a:t>初回ユーザーには負担が大きく、離脱につながりやすい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005840"/>
            <a:ext cx="356616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BA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25696" y="1115568"/>
            <a:ext cx="3346704" cy="347472"/>
          </a:xfrm>
          <a:prstGeom prst="roundRect">
            <a:avLst/>
          </a:prstGeom>
          <a:solidFill>
            <a:srgbClr val="3BA865"/>
          </a:solidFill>
          <a:ln w="12700">
            <a:solidFill>
              <a:srgbClr val="3BA8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188720"/>
            <a:ext cx="3236976" cy="10972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推奨導線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618488"/>
            <a:ext cx="3163824" cy="114299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lang="ja-JP" altLang="en-US" sz="1000" b="0" err="1">
                <a:solidFill>
                  <a:srgbClr val="2F2A28"/>
                </a:solidFill>
                <a:latin typeface="Yu Gothic"/>
              </a:rPr>
              <a:t>おみくじ参加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
↓
</a:t>
            </a:r>
            <a:r>
              <a:rPr sz="1000" b="0" dirty="0" err="1">
                <a:solidFill>
                  <a:srgbClr val="2F2A28"/>
                </a:solidFill>
                <a:latin typeface="Yu Gothic"/>
              </a:rPr>
              <a:t>結果画面でクーポンコードを即表示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
↓
EC/</a:t>
            </a:r>
            <a:r>
              <a:rPr sz="1000" b="0" dirty="0" err="1">
                <a:solidFill>
                  <a:srgbClr val="2F2A28"/>
                </a:solidFill>
                <a:latin typeface="Yu Gothic"/>
              </a:rPr>
              <a:t>Amazonへ誘導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
</a:t>
            </a:r>
            <a:r>
              <a:rPr sz="1000" b="0" dirty="0" err="1">
                <a:solidFill>
                  <a:srgbClr val="2F2A28"/>
                </a:solidFill>
                <a:latin typeface="Yu Gothic"/>
              </a:rPr>
              <a:t>LINE登録は任意で案内する</a:t>
            </a:r>
            <a:r>
              <a:rPr sz="1000" b="0" dirty="0">
                <a:solidFill>
                  <a:srgbClr val="2F2A28"/>
                </a:solidFill>
                <a:latin typeface="Yu Gothic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429000" cy="18745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47888" y="1115568"/>
            <a:ext cx="3209544" cy="347472"/>
          </a:xfrm>
          <a:prstGeom prst="roundRect">
            <a:avLst/>
          </a:prstGeom>
          <a:solidFill>
            <a:srgbClr val="06C755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188720"/>
            <a:ext cx="3099816" cy="10972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Yu Gothic"/>
              </a:rPr>
              <a:t>LINEの役割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618488"/>
            <a:ext cx="3026664" cy="75097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80" b="0">
                <a:solidFill>
                  <a:srgbClr val="2F2A28"/>
                </a:solidFill>
                <a:latin typeface="Yu Gothic"/>
              </a:rPr>
              <a:t>LINEはクーポン受取条件ではなく、
・</a:t>
            </a:r>
            <a:r>
              <a:rPr lang="ja-JP" altLang="en-US" sz="880" b="0">
                <a:solidFill>
                  <a:srgbClr val="2F2A28"/>
                </a:solidFill>
                <a:latin typeface="Yu Gothic"/>
              </a:rPr>
              <a:t>次回おみくじ通知</a:t>
            </a:r>
            <a:r>
              <a:rPr sz="880" b="0">
                <a:solidFill>
                  <a:srgbClr val="2F2A28"/>
                </a:solidFill>
                <a:latin typeface="Yu Gothic"/>
              </a:rPr>
              <a:t>
・毎月30秒健康チェック通知
・限定クーポン配信
の継続接点にする。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228600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1">
                <a:solidFill>
                  <a:srgbClr val="2F2A28"/>
                </a:solidFill>
                <a:latin typeface="Yu Gothic"/>
              </a:rPr>
              <a:t>結果画面の理想導線</a:t>
            </a:r>
          </a:p>
        </p:txBody>
      </p:sp>
      <p:sp>
        <p:nvSpPr>
          <p:cNvPr id="18" name="Oval 17"/>
          <p:cNvSpPr/>
          <p:nvPr/>
        </p:nvSpPr>
        <p:spPr>
          <a:xfrm>
            <a:off x="594360" y="3824271"/>
            <a:ext cx="402336" cy="402336"/>
          </a:xfrm>
          <a:prstGeom prst="ellipse">
            <a:avLst/>
          </a:prstGeom>
          <a:solidFill>
            <a:srgbClr val="49B5B3"/>
          </a:solidFill>
          <a:ln>
            <a:solidFill>
              <a:srgbClr val="49B5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4751" y="3923608"/>
            <a:ext cx="402336" cy="91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4712" y="365760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9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07592" y="3785615"/>
            <a:ext cx="1691640" cy="1280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50" b="1">
                <a:solidFill>
                  <a:srgbClr val="2F2A28"/>
                </a:solidFill>
                <a:latin typeface="Yu Gothic"/>
              </a:rPr>
              <a:t>クーポンコードを表示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4069080"/>
            <a:ext cx="1737360" cy="21236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 dirty="0" err="1">
                <a:solidFill>
                  <a:srgbClr val="6F625C"/>
                </a:solidFill>
                <a:latin typeface="Yu Gothic"/>
              </a:rPr>
              <a:t>登録不要でその場で確認</a:t>
            </a:r>
            <a:endParaRPr sz="900" b="0" dirty="0">
              <a:solidFill>
                <a:srgbClr val="6F625C"/>
              </a:solidFill>
              <a:latin typeface="Yu Gothic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3172968" y="3877056"/>
            <a:ext cx="256032" cy="256032"/>
          </a:xfrm>
          <a:prstGeom prst="chevron">
            <a:avLst/>
          </a:prstGeom>
          <a:solidFill>
            <a:srgbClr val="C4C5C1"/>
          </a:solidFill>
          <a:ln>
            <a:solidFill>
              <a:srgbClr val="C4C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66407" y="3782707"/>
            <a:ext cx="402336" cy="402336"/>
          </a:xfrm>
          <a:prstGeom prst="ellipse">
            <a:avLst/>
          </a:prstGeom>
          <a:solidFill>
            <a:srgbClr val="49B5B3"/>
          </a:solidFill>
          <a:ln>
            <a:solidFill>
              <a:srgbClr val="49B5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6798" y="3892435"/>
            <a:ext cx="402336" cy="91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1" y="365760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9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96511" y="3785615"/>
            <a:ext cx="1691640" cy="1280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50" b="1">
                <a:solidFill>
                  <a:srgbClr val="2F2A28"/>
                </a:solidFill>
                <a:latin typeface="Yu Gothic"/>
              </a:rPr>
              <a:t>このクーポンを使う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4069080"/>
            <a:ext cx="1737360" cy="21236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6F625C"/>
                </a:solidFill>
                <a:latin typeface="Yu Gothic"/>
              </a:rPr>
              <a:t>ECサイトへ優先誘導</a:t>
            </a:r>
          </a:p>
        </p:txBody>
      </p:sp>
      <p:sp>
        <p:nvSpPr>
          <p:cNvPr id="29" name="Chevron 28"/>
          <p:cNvSpPr/>
          <p:nvPr/>
        </p:nvSpPr>
        <p:spPr>
          <a:xfrm>
            <a:off x="5961888" y="3877056"/>
            <a:ext cx="256032" cy="256032"/>
          </a:xfrm>
          <a:prstGeom prst="chevron">
            <a:avLst/>
          </a:prstGeom>
          <a:solidFill>
            <a:srgbClr val="C4C5C1"/>
          </a:solidFill>
          <a:ln>
            <a:solidFill>
              <a:srgbClr val="C4C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55328" y="3782707"/>
            <a:ext cx="402336" cy="402336"/>
          </a:xfrm>
          <a:prstGeom prst="ellipse">
            <a:avLst/>
          </a:prstGeom>
          <a:solidFill>
            <a:srgbClr val="49B5B3"/>
          </a:solidFill>
          <a:ln>
            <a:solidFill>
              <a:srgbClr val="49B5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5719" y="3892435"/>
            <a:ext cx="402336" cy="91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02552" y="365760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94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85432" y="3785615"/>
            <a:ext cx="1691640" cy="1280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50" b="1">
                <a:solidFill>
                  <a:srgbClr val="2F2A28"/>
                </a:solidFill>
                <a:latin typeface="Yu Gothic"/>
              </a:rPr>
              <a:t>Amazonで確認する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4069080"/>
            <a:ext cx="1737360" cy="21236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>
                <a:solidFill>
                  <a:srgbClr val="6F625C"/>
                </a:solidFill>
                <a:latin typeface="Yu Gothic"/>
              </a:rPr>
              <a:t>Amazon購入層を逃さない</a:t>
            </a:r>
          </a:p>
        </p:txBody>
      </p:sp>
      <p:sp>
        <p:nvSpPr>
          <p:cNvPr id="35" name="Chevron 34"/>
          <p:cNvSpPr/>
          <p:nvPr/>
        </p:nvSpPr>
        <p:spPr>
          <a:xfrm>
            <a:off x="8750808" y="3877056"/>
            <a:ext cx="256032" cy="256032"/>
          </a:xfrm>
          <a:prstGeom prst="chevron">
            <a:avLst/>
          </a:prstGeom>
          <a:solidFill>
            <a:srgbClr val="C4C5C1"/>
          </a:solidFill>
          <a:ln>
            <a:solidFill>
              <a:srgbClr val="C4C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044247" y="3782707"/>
            <a:ext cx="402336" cy="402336"/>
          </a:xfrm>
          <a:prstGeom prst="ellipse">
            <a:avLst/>
          </a:prstGeom>
          <a:solidFill>
            <a:srgbClr val="06C755"/>
          </a:solidFill>
          <a:ln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4638" y="3892435"/>
            <a:ext cx="402336" cy="91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1" dirty="0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91472" y="3657600"/>
            <a:ext cx="2057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74351" y="3785615"/>
            <a:ext cx="1691640" cy="12801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50" b="1">
                <a:solidFill>
                  <a:srgbClr val="2F2A28"/>
                </a:solidFill>
                <a:latin typeface="Yu Gothic"/>
              </a:rPr>
              <a:t>LINEで次回通知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3" y="4069080"/>
            <a:ext cx="1737360" cy="21236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900" b="0" dirty="0" err="1">
                <a:solidFill>
                  <a:srgbClr val="6F625C"/>
                </a:solidFill>
                <a:latin typeface="Yu Gothic"/>
              </a:rPr>
              <a:t>任意登録で継続接点化</a:t>
            </a:r>
            <a:endParaRPr sz="900" b="0" dirty="0">
              <a:solidFill>
                <a:srgbClr val="6F625C"/>
              </a:solidFill>
              <a:latin typeface="Yu Gothic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94360" y="4983480"/>
            <a:ext cx="10927080" cy="804672"/>
          </a:xfrm>
          <a:prstGeom prst="roundRect">
            <a:avLst/>
          </a:prstGeom>
          <a:solidFill>
            <a:srgbClr val="2F2A28"/>
          </a:solidFill>
          <a:ln w="12700">
            <a:solidFill>
              <a:srgbClr val="2F2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" y="5286473"/>
            <a:ext cx="192024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 dirty="0" err="1">
                <a:solidFill>
                  <a:srgbClr val="F4A23A"/>
                </a:solidFill>
                <a:latin typeface="Yu Gothic"/>
              </a:rPr>
              <a:t>ボタン順序</a:t>
            </a:r>
            <a:endParaRPr sz="1200" b="1" dirty="0">
              <a:solidFill>
                <a:srgbClr val="F4A23A"/>
              </a:solidFill>
              <a:latin typeface="Yu Gothi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74519" y="5286507"/>
            <a:ext cx="9372600" cy="2585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Yu Gothic"/>
              </a:rPr>
              <a:t>① </a:t>
            </a:r>
            <a:r>
              <a:rPr sz="1200" b="1" dirty="0" err="1">
                <a:solidFill>
                  <a:srgbClr val="FFFFFF"/>
                </a:solidFill>
                <a:latin typeface="Yu Gothic"/>
              </a:rPr>
              <a:t>このクーポンを使う</a:t>
            </a:r>
            <a:r>
              <a:rPr sz="1200" b="1" dirty="0">
                <a:solidFill>
                  <a:srgbClr val="FFFFFF"/>
                </a:solidFill>
                <a:latin typeface="Yu Gothic"/>
              </a:rPr>
              <a:t>　② </a:t>
            </a:r>
            <a:r>
              <a:rPr sz="1200" b="1" dirty="0" err="1">
                <a:solidFill>
                  <a:srgbClr val="FFFFFF"/>
                </a:solidFill>
                <a:latin typeface="Yu Gothic"/>
              </a:rPr>
              <a:t>おすすめ検査キットを見る</a:t>
            </a:r>
            <a:r>
              <a:rPr sz="1200" b="1" dirty="0">
                <a:solidFill>
                  <a:srgbClr val="FFFFFF"/>
                </a:solidFill>
                <a:latin typeface="Yu Gothic"/>
              </a:rPr>
              <a:t>　③ 30秒健康チェックも試す　④ </a:t>
            </a:r>
            <a:r>
              <a:rPr sz="1200" b="1" dirty="0" err="1">
                <a:solidFill>
                  <a:srgbClr val="FFFFFF"/>
                </a:solidFill>
                <a:latin typeface="Yu Gothic"/>
              </a:rPr>
              <a:t>LINEで次回のお知らせを受け取る</a:t>
            </a:r>
            <a:endParaRPr sz="1200" b="1" dirty="0">
              <a:solidFill>
                <a:srgbClr val="FFFFFF"/>
              </a:solidFill>
              <a:latin typeface="Yu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2F2A28"/>
                </a:solidFill>
              </a:rPr>
              <a:t>ECサイト・Amazonは「不安解消ページ」として整える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購入導線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950000"/>
            <a:ext cx="5300000" cy="155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85800" y="1078016"/>
            <a:ext cx="5025680" cy="400000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178016"/>
            <a:ext cx="48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商品選び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777240" y="1650000"/>
            <a:ext cx="4842800" cy="7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顧客の不安：どの検査が自分に合うか分からない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対応：画像・FAQ・比較表で先に説明する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6343055" y="950000"/>
            <a:ext cx="5300000" cy="1550000"/>
          </a:xfrm>
          <a:prstGeom prst="roundRect">
            <a:avLst>
              <a:gd name="adj" fmla="val 6250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80215" y="1078016"/>
            <a:ext cx="5025680" cy="400000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571655" y="1178016"/>
            <a:ext cx="48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使い方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6571655" y="1650000"/>
            <a:ext cx="4842800" cy="7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顧客の不安：採取・返送・結果確認の流れが不安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対応：画像・FAQ・比較表で先に説明する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548640" y="2650000"/>
            <a:ext cx="5300000" cy="1550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2778016"/>
            <a:ext cx="5025680" cy="400000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77240" y="2878016"/>
            <a:ext cx="48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安心感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777240" y="3350000"/>
            <a:ext cx="4842800" cy="7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顧客の不安：個人情報・結果・検体の扱いが気になる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対応：画像・FAQ・比較表で先に説明する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6343055" y="2650000"/>
            <a:ext cx="5300000" cy="1550000"/>
          </a:xfrm>
          <a:prstGeom prst="roundRect">
            <a:avLst>
              <a:gd name="adj" fmla="val 6250"/>
            </a:avLst>
          </a:prstGeom>
          <a:solidFill>
            <a:srgbClr val="E5F7EA"/>
          </a:solidFill>
          <a:ln w="13335">
            <a:solidFill>
              <a:srgbClr val="5C8ED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480215" y="2778016"/>
            <a:ext cx="5025680" cy="400000"/>
          </a:xfrm>
          <a:prstGeom prst="roundRect">
            <a:avLst>
              <a:gd name="adj" fmla="val 15789"/>
            </a:avLst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571655" y="2878016"/>
            <a:ext cx="48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購入判断</a:t>
            </a:r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6571655" y="3350000"/>
            <a:ext cx="4842800" cy="70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err="1">
                <a:solidFill>
                  <a:srgbClr val="2F2A28"/>
                </a:solidFill>
              </a:rPr>
              <a:t>顧客の不安：価格・配送・レビューを見て判断したい</a:t>
            </a:r>
            <a:endParaRPr lang="en-US" sz="1500"/>
          </a:p>
          <a:p>
            <a:pPr marL="0" indent="0">
              <a:buNone/>
            </a:pPr>
            <a:r>
              <a:rPr lang="en-US" sz="1500" err="1">
                <a:solidFill>
                  <a:srgbClr val="2F2A28"/>
                </a:solidFill>
              </a:rPr>
              <a:t>対応：画像・FAQ・比較表で先に説明する</a:t>
            </a:r>
            <a:endParaRPr lang="en-US" sz="1500"/>
          </a:p>
        </p:txBody>
      </p:sp>
      <p:sp>
        <p:nvSpPr>
          <p:cNvPr id="24" name="Shape 22"/>
          <p:cNvSpPr/>
          <p:nvPr/>
        </p:nvSpPr>
        <p:spPr>
          <a:xfrm>
            <a:off x="548640" y="4350000"/>
            <a:ext cx="5300000" cy="1700000"/>
          </a:xfrm>
          <a:prstGeom prst="roundRect">
            <a:avLst>
              <a:gd name="adj" fmla="val 8421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85800" y="4478016"/>
            <a:ext cx="5025680" cy="400000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77240" y="4578016"/>
            <a:ext cx="48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ECサイトでやること</a:t>
            </a:r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777240" y="5050000"/>
            <a:ext cx="4842800" cy="85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err="1">
                <a:solidFill>
                  <a:srgbClr val="2F2A28"/>
                </a:solidFill>
              </a:rPr>
              <a:t>診断結果別のおすすめキット、購入ボタン、検査の流れ、FAQ、問い合わせ導線を整備</a:t>
            </a:r>
            <a:r>
              <a:rPr lang="en-US" sz="1500">
                <a:solidFill>
                  <a:srgbClr val="2F2A28"/>
                </a:solidFill>
              </a:rPr>
              <a:t>。</a:t>
            </a:r>
            <a:endParaRPr lang="en-US" sz="1500"/>
          </a:p>
        </p:txBody>
      </p:sp>
      <p:sp>
        <p:nvSpPr>
          <p:cNvPr id="28" name="Shape 26"/>
          <p:cNvSpPr/>
          <p:nvPr/>
        </p:nvSpPr>
        <p:spPr>
          <a:xfrm>
            <a:off x="6343055" y="4350000"/>
            <a:ext cx="5300000" cy="170000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3335">
            <a:solidFill>
              <a:srgbClr val="5C8ED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480215" y="4478016"/>
            <a:ext cx="5025680" cy="400000"/>
          </a:xfrm>
          <a:prstGeom prst="roundRect">
            <a:avLst>
              <a:gd name="adj" fmla="val 15789"/>
            </a:avLst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571655" y="4578016"/>
            <a:ext cx="484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</a:rPr>
              <a:t>Amazonでやること</a:t>
            </a:r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6571655" y="5050000"/>
            <a:ext cx="4842800" cy="85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2F2A28"/>
                </a:solidFill>
              </a:rPr>
              <a:t>商品名・画像・説明文を検索語句と不安解消に合わせ、少額の広告運用で検証。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2A28"/>
                </a:solidFill>
              </a:rPr>
              <a:t>LINEスタンプ：売上目的ではなく「親近感と拡散」の施策にする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LINEスタンプ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914400"/>
            <a:ext cx="4343400" cy="46634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3970">
            <a:solidFill>
              <a:srgbClr val="F4A4B8"/>
            </a:solidFill>
            <a:prstDash val="solid"/>
          </a:ln>
          <a:effectLst>
            <a:outerShdw blurRad="12700" dist="444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/mnt/data/等身大　みんたむ　線あり　グレ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07" y="1143000"/>
            <a:ext cx="3256501" cy="4160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94960" y="96012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FFE6EE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5532120" y="1088136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623560" y="11658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作る目的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23560" y="1581912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みんたむちゃんを日常会話に入れ、企業・サービスを思い出してもらう。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58200" y="960120"/>
            <a:ext cx="2743200" cy="1298448"/>
          </a:xfrm>
          <a:prstGeom prst="roundRect">
            <a:avLst>
              <a:gd name="adj" fmla="val 5634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2"/>
          <p:cNvSpPr/>
          <p:nvPr/>
        </p:nvSpPr>
        <p:spPr>
          <a:xfrm>
            <a:off x="8595360" y="1088136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8686800" y="116586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使い道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86800" y="1581912"/>
            <a:ext cx="2286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</a:rPr>
              <a:t>公式LINE友だち追加特典、イベントQR誘導、社内浸透、SNS告知。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94960" y="2788920"/>
            <a:ext cx="5806440" cy="1143000"/>
          </a:xfrm>
          <a:prstGeom prst="roundRect">
            <a:avLst>
              <a:gd name="adj" fmla="val 6400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6"/>
          <p:cNvSpPr/>
          <p:nvPr/>
        </p:nvSpPr>
        <p:spPr>
          <a:xfrm>
            <a:off x="5532120" y="2916936"/>
            <a:ext cx="5532120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5623560" y="299466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おすすめスタンプ内容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23560" y="3410712"/>
            <a:ext cx="53492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2F2A28"/>
                </a:solidFill>
              </a:rPr>
              <a:t>「ありがとう」「了解」「お大事に」「確認中」「検査してみよう」「健康チェックの日」など、日常＋健康啓発で使える言葉にする。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394960" y="4343399"/>
            <a:ext cx="5806440" cy="1142999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3335">
            <a:solidFill>
              <a:srgbClr val="5C8ED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0"/>
          <p:cNvSpPr/>
          <p:nvPr/>
        </p:nvSpPr>
        <p:spPr>
          <a:xfrm>
            <a:off x="5532120" y="4471416"/>
            <a:ext cx="5532120" cy="347472"/>
          </a:xfrm>
          <a:prstGeom prst="roundRect">
            <a:avLst>
              <a:gd name="adj" fmla="val 15789"/>
            </a:avLst>
          </a:prstGeom>
          <a:solidFill>
            <a:srgbClr val="5C8ED7"/>
          </a:solidFill>
          <a:ln w="12700">
            <a:solidFill>
              <a:srgbClr val="5C8ED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/>
          <p:nvPr/>
        </p:nvSpPr>
        <p:spPr>
          <a:xfrm>
            <a:off x="5623560" y="4549140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優先順位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623560" y="4892040"/>
            <a:ext cx="5349240" cy="52120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ja-JP" altLang="en-US" sz="1200" b="0">
                <a:solidFill>
                  <a:srgbClr val="2F2A28"/>
                </a:solidFill>
                <a:latin typeface="Yu Gothic"/>
              </a:rPr>
              <a:t>30秒健康チェック</a:t>
            </a:r>
            <a:r>
              <a:rPr sz="1200" b="0" dirty="0">
                <a:solidFill>
                  <a:srgbClr val="2F2A28"/>
                </a:solidFill>
                <a:latin typeface="Yu Gothic"/>
              </a:rPr>
              <a:t>・</a:t>
            </a:r>
            <a:r>
              <a:rPr lang="ja-JP" altLang="en-US" sz="1200" b="0">
                <a:solidFill>
                  <a:srgbClr val="2F2A28"/>
                </a:solidFill>
                <a:latin typeface="Yu Gothic"/>
              </a:rPr>
              <a:t>おみくじの専用サイトと</a:t>
            </a:r>
            <a:r>
              <a:rPr sz="1200" b="0" dirty="0">
                <a:solidFill>
                  <a:srgbClr val="2F2A28"/>
                </a:solidFill>
                <a:latin typeface="Yu Gothic"/>
              </a:rPr>
              <a:t>LINE再訪導線ができてから制作。スタンプだけ先に作っても売上導線にはつながりにくい。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2A28"/>
                </a:solidFill>
              </a:rPr>
              <a:t>実行ロードマップ：3か月で導線を形にする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Schedule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14400" y="1271016"/>
            <a:ext cx="2971800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005840" y="1359131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1か月目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278892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300" b="0" dirty="0" err="1">
                <a:solidFill>
                  <a:srgbClr val="2F2A28"/>
                </a:solidFill>
                <a:latin typeface="Yu Gothic"/>
              </a:rPr>
              <a:t>設計・準備</a:t>
            </a:r>
            <a:r>
              <a:rPr sz="1300" b="0" dirty="0">
                <a:solidFill>
                  <a:srgbClr val="2F2A28"/>
                </a:solidFill>
                <a:latin typeface="Yu Gothic"/>
              </a:rPr>
              <a:t>
専用サイト構成、</a:t>
            </a:r>
            <a:r>
              <a:rPr lang="ja-JP" altLang="en-US" sz="1300" b="0">
                <a:solidFill>
                  <a:srgbClr val="2F2A28"/>
                </a:solidFill>
                <a:latin typeface="Yu Gothic"/>
              </a:rPr>
              <a:t>30秒健康チェック設問</a:t>
            </a:r>
            <a:r>
              <a:rPr sz="1300" b="0" dirty="0">
                <a:solidFill>
                  <a:srgbClr val="2F2A28"/>
                </a:solidFill>
                <a:latin typeface="Yu Gothic"/>
              </a:rPr>
              <a:t>、</a:t>
            </a:r>
            <a:r>
              <a:rPr lang="ja-JP" altLang="en-US" sz="1300" b="0">
                <a:solidFill>
                  <a:srgbClr val="2F2A28"/>
                </a:solidFill>
                <a:latin typeface="Yu Gothic"/>
              </a:rPr>
              <a:t>おみくじ仕様</a:t>
            </a:r>
            <a:r>
              <a:rPr sz="1300" b="0" dirty="0">
                <a:solidFill>
                  <a:srgbClr val="2F2A28"/>
                </a:solidFill>
                <a:latin typeface="Yu Gothic"/>
              </a:rPr>
              <a:t>、EC誘導先を決定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78808" y="2377440"/>
            <a:ext cx="347472" cy="502920"/>
          </a:xfrm>
          <a:prstGeom prst="chevron">
            <a:avLst/>
          </a:prstGeom>
          <a:solidFill>
            <a:srgbClr val="E8D8CA"/>
          </a:solidFill>
          <a:ln w="1270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44568" y="114300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681728" y="1271016"/>
            <a:ext cx="297180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773168" y="1359131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2か月目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1764792"/>
            <a:ext cx="278892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300" b="0" dirty="0" err="1">
                <a:solidFill>
                  <a:srgbClr val="2F2A28"/>
                </a:solidFill>
                <a:latin typeface="Yu Gothic"/>
              </a:rPr>
              <a:t>制作・公開</a:t>
            </a:r>
            <a:r>
              <a:rPr sz="1300" b="0" dirty="0">
                <a:solidFill>
                  <a:srgbClr val="2F2A28"/>
                </a:solidFill>
                <a:latin typeface="Yu Gothic"/>
              </a:rPr>
              <a:t>
/</a:t>
            </a:r>
            <a:r>
              <a:rPr sz="1300" b="0" dirty="0" err="1">
                <a:solidFill>
                  <a:srgbClr val="2F2A28"/>
                </a:solidFill>
                <a:latin typeface="Yu Gothic"/>
              </a:rPr>
              <a:t>gacha</a:t>
            </a:r>
            <a:r>
              <a:rPr sz="1300" b="0" dirty="0">
                <a:solidFill>
                  <a:srgbClr val="2F2A28"/>
                </a:solidFill>
                <a:latin typeface="Yu Gothic"/>
              </a:rPr>
              <a:t> と /check </a:t>
            </a:r>
            <a:r>
              <a:rPr sz="1300" b="0" dirty="0" err="1">
                <a:solidFill>
                  <a:srgbClr val="2F2A28"/>
                </a:solidFill>
                <a:latin typeface="Yu Gothic"/>
              </a:rPr>
              <a:t>を公開、公式LINEリッチメニューから両ページへ誘導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46136" y="2377440"/>
            <a:ext cx="347472" cy="502920"/>
          </a:xfrm>
          <a:prstGeom prst="chevron">
            <a:avLst/>
          </a:prstGeom>
          <a:solidFill>
            <a:srgbClr val="E8D8CA"/>
          </a:solidFill>
          <a:ln w="1270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311896" y="114300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FFE6EE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8449056" y="1271016"/>
            <a:ext cx="2971800" cy="347472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540496" y="1359131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3か月目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0496" y="1764792"/>
            <a:ext cx="278892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ja-JP" altLang="en-US" sz="1300" b="0" dirty="0">
                <a:solidFill>
                  <a:srgbClr val="2F2A28"/>
                </a:solidFill>
                <a:latin typeface="Yu Gothic"/>
              </a:rPr>
              <a:t>改善・拡張
健康チェック回答数</a:t>
            </a:r>
            <a:r>
              <a:rPr lang="ja-JP" altLang="en-US" sz="1300" b="0">
                <a:solidFill>
                  <a:srgbClr val="2F2A28"/>
                </a:solidFill>
                <a:latin typeface="Yu Gothic"/>
              </a:rPr>
              <a:t>・おみくじ参加数</a:t>
            </a:r>
            <a:r>
              <a:rPr lang="ja-JP" altLang="en-US" sz="1300" b="0" dirty="0">
                <a:solidFill>
                  <a:srgbClr val="2F2A28"/>
                </a:solidFill>
                <a:latin typeface="Yu Gothic"/>
              </a:rPr>
              <a:t>・</a:t>
            </a:r>
            <a:r>
              <a:rPr lang="en-US" altLang="ja-JP" sz="1300" b="0" dirty="0">
                <a:solidFill>
                  <a:srgbClr val="2F2A28"/>
                </a:solidFill>
                <a:latin typeface="Yu Gothic"/>
              </a:rPr>
              <a:t>EC/Amazon</a:t>
            </a:r>
            <a:r>
              <a:rPr lang="ja-JP" altLang="en-US" sz="1300" b="0" dirty="0">
                <a:solidFill>
                  <a:srgbClr val="2F2A28"/>
                </a:solidFill>
                <a:latin typeface="Yu Gothic"/>
              </a:rPr>
              <a:t>遷移を確認し、</a:t>
            </a:r>
            <a:r>
              <a:rPr lang="en-US" altLang="ja-JP" sz="1300" b="0" dirty="0">
                <a:solidFill>
                  <a:srgbClr val="2F2A28"/>
                </a:solidFill>
                <a:latin typeface="Yu Gothic"/>
              </a:rPr>
              <a:t>LINE</a:t>
            </a:r>
            <a:r>
              <a:rPr lang="ja-JP" altLang="en-US" sz="1300" b="0" dirty="0">
                <a:solidFill>
                  <a:srgbClr val="2F2A28"/>
                </a:solidFill>
                <a:latin typeface="Yu Gothic"/>
              </a:rPr>
              <a:t>スタンプ企画へ展開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0887" y="4933188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960120" y="5020056"/>
            <a:ext cx="10460736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1066647" y="5120640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担当分け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1560" y="5513832"/>
            <a:ext cx="10058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sz="960" b="0" dirty="0" err="1">
                <a:solidFill>
                  <a:srgbClr val="2F2A28"/>
                </a:solidFill>
                <a:latin typeface="Yu Gothic"/>
              </a:rPr>
              <a:t>企画担当：導線設計・投稿案・LINE文面｜プログラマ</a:t>
            </a:r>
            <a:r>
              <a:rPr sz="960" b="0" dirty="0">
                <a:solidFill>
                  <a:srgbClr val="2F2A28"/>
                </a:solidFill>
                <a:latin typeface="Yu Gothic"/>
              </a:rPr>
              <a:t>ー：</a:t>
            </a:r>
            <a:r>
              <a:rPr lang="ja-JP" altLang="en-US" sz="960" b="0" err="1">
                <a:solidFill>
                  <a:srgbClr val="2F2A28"/>
                </a:solidFill>
                <a:latin typeface="Yu Gothic"/>
              </a:rPr>
              <a:t>健康チェックロジック</a:t>
            </a:r>
            <a:r>
              <a:rPr sz="960" b="0" dirty="0" err="1">
                <a:solidFill>
                  <a:srgbClr val="2F2A28"/>
                </a:solidFill>
                <a:latin typeface="Yu Gothic"/>
              </a:rPr>
              <a:t>・</a:t>
            </a:r>
            <a:r>
              <a:rPr lang="ja-JP" altLang="en-US" sz="960" b="0" err="1">
                <a:solidFill>
                  <a:srgbClr val="2F2A28"/>
                </a:solidFill>
                <a:latin typeface="Yu Gothic"/>
              </a:rPr>
              <a:t>おみくじ本体</a:t>
            </a:r>
            <a:r>
              <a:rPr sz="960" b="0" dirty="0" err="1">
                <a:solidFill>
                  <a:srgbClr val="2F2A28"/>
                </a:solidFill>
                <a:latin typeface="Yu Gothic"/>
              </a:rPr>
              <a:t>｜EC担当：商品ページ整備｜デザイン担当：バナ</a:t>
            </a:r>
            <a:r>
              <a:rPr sz="960" b="0" dirty="0">
                <a:solidFill>
                  <a:srgbClr val="2F2A28"/>
                </a:solidFill>
                <a:latin typeface="Yu Gothic"/>
              </a:rPr>
              <a:t>ー・</a:t>
            </a:r>
            <a:r>
              <a:rPr sz="960" b="0" dirty="0" err="1">
                <a:solidFill>
                  <a:srgbClr val="2F2A28"/>
                </a:solidFill>
                <a:latin typeface="Yu Gothic"/>
              </a:rPr>
              <a:t>スタンプ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FFFFFF"/>
          </a:solidFill>
          <a:ln w="7620">
            <a:solidFill>
              <a:srgbClr val="E8D8C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438912" y="164592"/>
            <a:ext cx="109728" cy="329184"/>
          </a:xfrm>
          <a:prstGeom prst="rect">
            <a:avLst/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603504" y="1097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F2A28"/>
                </a:solidFill>
              </a:rPr>
              <a:t>KPI：見る数字を絞って、毎月改善する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03920" y="18288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F625C"/>
                </a:solidFill>
              </a:rPr>
              <a:t>Management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960120"/>
            <a:ext cx="3200400" cy="4251960"/>
          </a:xfrm>
          <a:prstGeom prst="roundRect">
            <a:avLst>
              <a:gd name="adj" fmla="val 2286"/>
            </a:avLst>
          </a:prstGeom>
          <a:solidFill>
            <a:srgbClr val="FFE6EE"/>
          </a:solidFill>
          <a:ln w="13335">
            <a:solidFill>
              <a:srgbClr val="F4A4B8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22960" y="1088136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F4A4B8"/>
          </a:solidFill>
          <a:ln w="12700">
            <a:solidFill>
              <a:srgbClr val="F4A4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11658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集客KPI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581912"/>
            <a:ext cx="274320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sz="1400" b="0" dirty="0">
                <a:solidFill>
                  <a:srgbClr val="2F2A28"/>
                </a:solidFill>
                <a:latin typeface="Yu Gothic"/>
              </a:rPr>
              <a:t>・</a:t>
            </a:r>
            <a:r>
              <a:rPr lang="en-US" altLang="ja-JP" sz="1400" b="0" dirty="0">
                <a:solidFill>
                  <a:srgbClr val="2F2A28"/>
                </a:solidFill>
                <a:latin typeface="Yu Gothic"/>
              </a:rPr>
              <a:t>SNS</a:t>
            </a:r>
            <a:r>
              <a:rPr lang="ja-JP" altLang="en-US" sz="1400" b="0" dirty="0">
                <a:solidFill>
                  <a:srgbClr val="2F2A28"/>
                </a:solidFill>
                <a:latin typeface="Yu Gothic"/>
              </a:rPr>
              <a:t>投稿リーチ
・専用サイト訪問数
・</a:t>
            </a:r>
            <a:r>
              <a:rPr lang="en-US" altLang="ja-JP" sz="1400" b="0" dirty="0">
                <a:solidFill>
                  <a:srgbClr val="2F2A28"/>
                </a:solidFill>
                <a:latin typeface="Yu Gothic"/>
              </a:rPr>
              <a:t>QR</a:t>
            </a:r>
            <a:r>
              <a:rPr lang="ja-JP" altLang="en-US" sz="1400" b="0" dirty="0">
                <a:solidFill>
                  <a:srgbClr val="2F2A28"/>
                </a:solidFill>
                <a:latin typeface="Yu Gothic"/>
              </a:rPr>
              <a:t>読み取り数
・健康チェック回答数</a:t>
            </a:r>
            <a:r>
              <a:rPr lang="ja-JP" altLang="en-US" sz="1400" b="0">
                <a:solidFill>
                  <a:srgbClr val="2F2A28"/>
                </a:solidFill>
                <a:latin typeface="Yu Gothic"/>
              </a:rPr>
              <a:t>
・おみくじ参加数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960120"/>
            <a:ext cx="3200400" cy="4251960"/>
          </a:xfrm>
          <a:prstGeom prst="roundRect">
            <a:avLst>
              <a:gd name="adj" fmla="val 2286"/>
            </a:avLst>
          </a:prstGeom>
          <a:solidFill>
            <a:srgbClr val="E5F7EA"/>
          </a:solidFill>
          <a:ln w="13335">
            <a:solidFill>
              <a:srgbClr val="45AE6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0" y="1088136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45AE6A"/>
          </a:solidFill>
          <a:ln w="12700">
            <a:solidFill>
              <a:srgbClr val="45A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11658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関係化KPI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581912"/>
            <a:ext cx="274320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sz="1400" b="0" dirty="0">
                <a:solidFill>
                  <a:srgbClr val="2F2A28"/>
                </a:solidFill>
                <a:latin typeface="Yu Gothic"/>
              </a:rPr>
              <a:t>・</a:t>
            </a:r>
            <a:r>
              <a:rPr sz="1400" b="0" dirty="0" err="1">
                <a:solidFill>
                  <a:srgbClr val="2F2A28"/>
                </a:solidFill>
                <a:latin typeface="Yu Gothic"/>
              </a:rPr>
              <a:t>LINE友だち追加数</a:t>
            </a:r>
            <a:r>
              <a:rPr sz="1400" b="0" dirty="0">
                <a:solidFill>
                  <a:srgbClr val="2F2A28"/>
                </a:solidFill>
                <a:latin typeface="Yu Gothic"/>
              </a:rPr>
              <a:t>
・</a:t>
            </a:r>
            <a:r>
              <a:rPr sz="1400" b="0" dirty="0" err="1">
                <a:solidFill>
                  <a:srgbClr val="2F2A28"/>
                </a:solidFill>
                <a:latin typeface="Yu Gothic"/>
              </a:rPr>
              <a:t>LINE経由の再訪数</a:t>
            </a:r>
            <a:r>
              <a:rPr sz="1400" b="0" dirty="0">
                <a:solidFill>
                  <a:srgbClr val="2F2A28"/>
                </a:solidFill>
                <a:latin typeface="Yu Gothic"/>
              </a:rPr>
              <a:t>
・</a:t>
            </a:r>
            <a:r>
              <a:rPr sz="1400" b="0" dirty="0" err="1">
                <a:solidFill>
                  <a:srgbClr val="2F2A28"/>
                </a:solidFill>
                <a:latin typeface="Yu Gothic"/>
              </a:rPr>
              <a:t>リッチメニュークリック数</a:t>
            </a:r>
            <a:r>
              <a:rPr sz="1400" b="0" dirty="0">
                <a:solidFill>
                  <a:srgbClr val="2F2A28"/>
                </a:solidFill>
                <a:latin typeface="Yu Gothic"/>
              </a:rPr>
              <a:t>
・</a:t>
            </a:r>
            <a:r>
              <a:rPr sz="1400" b="0" dirty="0" err="1">
                <a:solidFill>
                  <a:srgbClr val="2F2A28"/>
                </a:solidFill>
                <a:latin typeface="Yu Gothic"/>
              </a:rPr>
              <a:t>ブロック率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3200400" cy="4251960"/>
          </a:xfrm>
          <a:prstGeom prst="roundRect">
            <a:avLst>
              <a:gd name="adj" fmla="val 2286"/>
            </a:avLst>
          </a:prstGeom>
          <a:solidFill>
            <a:srgbClr val="E2F7F6"/>
          </a:solidFill>
          <a:ln w="13335">
            <a:solidFill>
              <a:srgbClr val="58B9B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321040" y="1088136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58B9B7"/>
          </a:solidFill>
          <a:ln w="12700">
            <a:solidFill>
              <a:srgbClr val="58B9B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412480" y="116586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購入KPI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1581912"/>
            <a:ext cx="2743200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2A28"/>
                </a:solidFill>
              </a:rPr>
              <a:t>・EC遷移数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2A28"/>
                </a:solidFill>
              </a:rPr>
              <a:t>・Amazon遷移数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2A28"/>
                </a:solidFill>
              </a:rPr>
              <a:t>・商品ページCVR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F2A28"/>
                </a:solidFill>
              </a:rPr>
              <a:t>・購入件数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559552"/>
            <a:ext cx="10681335" cy="70294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5C8ED7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051560" y="5765292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判断基準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 rot="-10800000" flipV="1">
            <a:off x="1051560" y="5830183"/>
            <a:ext cx="100584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ja-JP" altLang="en-US" sz="1200" b="0" dirty="0">
                <a:solidFill>
                  <a:srgbClr val="2F2A28"/>
                </a:solidFill>
                <a:latin typeface="Yu Gothic"/>
              </a:rPr>
              <a:t>健康チェック回答数</a:t>
            </a:r>
            <a:r>
              <a:rPr lang="ja-JP" altLang="en-US" sz="1200" b="0">
                <a:solidFill>
                  <a:srgbClr val="2F2A28"/>
                </a:solidFill>
                <a:latin typeface="Yu Gothic"/>
              </a:rPr>
              <a:t>・おみくじ参加数</a:t>
            </a:r>
            <a:r>
              <a:rPr lang="ja-JP" altLang="en-US" sz="1200" b="0" dirty="0">
                <a:solidFill>
                  <a:srgbClr val="2F2A28"/>
                </a:solidFill>
                <a:latin typeface="Yu Gothic"/>
              </a:rPr>
              <a:t>・</a:t>
            </a:r>
            <a:r>
              <a:rPr lang="en-US" altLang="ja-JP" sz="1200" b="0" dirty="0">
                <a:solidFill>
                  <a:srgbClr val="2F2A28"/>
                </a:solidFill>
                <a:latin typeface="Yu Gothic"/>
              </a:rPr>
              <a:t>EC</a:t>
            </a:r>
            <a:r>
              <a:rPr lang="ja-JP" altLang="en-US" sz="1200" b="0" dirty="0">
                <a:solidFill>
                  <a:srgbClr val="2F2A28"/>
                </a:solidFill>
                <a:latin typeface="Yu Gothic"/>
              </a:rPr>
              <a:t>遷移を入口</a:t>
            </a:r>
            <a:r>
              <a:rPr lang="en-US" altLang="ja-JP" sz="1200" b="0" dirty="0">
                <a:solidFill>
                  <a:srgbClr val="2F2A28"/>
                </a:solidFill>
                <a:latin typeface="Yu Gothic"/>
              </a:rPr>
              <a:t>KPI</a:t>
            </a:r>
            <a:r>
              <a:rPr lang="ja-JP" altLang="en-US" sz="1200" b="0" dirty="0">
                <a:solidFill>
                  <a:srgbClr val="2F2A28"/>
                </a:solidFill>
                <a:latin typeface="Yu Gothic"/>
              </a:rPr>
              <a:t>として確認する。</a:t>
            </a:r>
            <a:r>
              <a:rPr lang="en-US" altLang="ja-JP" sz="1200" b="0" dirty="0">
                <a:solidFill>
                  <a:srgbClr val="2F2A28"/>
                </a:solidFill>
                <a:latin typeface="Yu Gothic"/>
              </a:rPr>
              <a:t>LINE</a:t>
            </a:r>
            <a:r>
              <a:rPr lang="ja-JP" altLang="en-US" sz="1200" b="0" dirty="0">
                <a:solidFill>
                  <a:srgbClr val="2F2A28"/>
                </a:solidFill>
                <a:latin typeface="Yu Gothic"/>
              </a:rPr>
              <a:t>登録は必須ではなく、再訪率・ブロック率と合わせて改善する。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追加ページ：サイト構成は2パターンで判断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109728" cy="365760"/>
          </a:xfrm>
          <a:prstGeom prst="rect">
            <a:avLst/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既存ECサイトが他社制作の場合、まずは導線・管理負荷・公開スピードで比較する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78440" y="292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A87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追加ページ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35204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722376" y="11338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F4A23A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95528" y="1092292"/>
            <a:ext cx="3118104" cy="44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813816" y="1609344"/>
            <a:ext cx="308152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既存ECサイトは他社制作のため、EC内に新規ページや診断機能を追加する場合は、制作会社との調整・費用・納期確認が必要。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005840"/>
            <a:ext cx="35204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49B5B3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4498848" y="11338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572000" y="1092292"/>
            <a:ext cx="3118104" cy="44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パターンA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590288" y="1609344"/>
            <a:ext cx="308152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既存ECサイト内または同一ドメイン配下に「30秒健康チェック</a:t>
            </a:r>
            <a:r>
              <a:rPr lang="en-US" sz="110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」「おみくじ</a:t>
            </a: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」ページを作る。信頼感は出しやすいが調整が必要</a:t>
            </a: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005840"/>
            <a:ext cx="352044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66176" y="11338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3BA865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339328" y="1092292"/>
            <a:ext cx="3118104" cy="44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パターンB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8357616" y="1575598"/>
            <a:ext cx="3240024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別のキャンペーンサイトを作り、ECサイト・Amazonへリンクで送る。初期検証が早く、LINE・SNS・QRとの相性が良い。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273133"/>
            <a:ext cx="10652760" cy="1005840"/>
          </a:xfrm>
          <a:prstGeom prst="roundRect">
            <a:avLst>
              <a:gd name="adj" fmla="val 14545"/>
            </a:avLst>
          </a:prstGeom>
          <a:solidFill>
            <a:srgbClr val="2F2A28"/>
          </a:solidFill>
          <a:ln w="12700">
            <a:solidFill>
              <a:srgbClr val="2F2A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1051560" y="3602317"/>
            <a:ext cx="10104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Yu Gothic"/>
              </a:rPr>
              <a:t>推奨判断：初回は「別キャンペーンサイト」で、</a:t>
            </a:r>
            <a:r>
              <a:rPr lang="ja-JP" altLang="en-US" sz="1100" b="1">
                <a:solidFill>
                  <a:srgbClr val="FFFFFF"/>
                </a:solidFill>
                <a:latin typeface="Yu Gothic"/>
              </a:rPr>
              <a:t>30秒健康チェックとおみくじを合わせて小さく検証</a:t>
            </a:r>
            <a:r>
              <a:rPr sz="1100" b="1" dirty="0">
                <a:solidFill>
                  <a:srgbClr val="FFFFFF"/>
                </a:solidFill>
                <a:latin typeface="Yu Gothic"/>
              </a:rPr>
              <a:t> → </a:t>
            </a:r>
            <a:r>
              <a:rPr sz="1100" b="1" dirty="0" err="1">
                <a:solidFill>
                  <a:srgbClr val="FFFFFF"/>
                </a:solidFill>
                <a:latin typeface="Yu Gothic"/>
              </a:rPr>
              <a:t>数字が見えたら既存ECサイトへの組み込みや連携を検討する</a:t>
            </a:r>
            <a:r>
              <a:rPr sz="1100" b="1" dirty="0">
                <a:solidFill>
                  <a:srgbClr val="FFFFFF"/>
                </a:solidFill>
                <a:latin typeface="Yu Gothic"/>
              </a:rPr>
              <a:t>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986365"/>
            <a:ext cx="10104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19" b="0">
                <a:solidFill>
                  <a:srgbClr val="EDE3DA"/>
                </a:solidFill>
                <a:latin typeface="Yu Gothic"/>
              </a:rPr>
              <a:t>理由：</a:t>
            </a:r>
            <a:r>
              <a:rPr lang="ja-JP" altLang="en-US" sz="919" b="0">
                <a:solidFill>
                  <a:srgbClr val="EDE3DA"/>
                </a:solidFill>
                <a:latin typeface="Yu Gothic"/>
              </a:rPr>
              <a:t>30秒健康チェック</a:t>
            </a:r>
            <a:r>
              <a:rPr sz="919" b="0">
                <a:solidFill>
                  <a:srgbClr val="EDE3DA"/>
                </a:solidFill>
                <a:latin typeface="Yu Gothic"/>
              </a:rPr>
              <a:t>・</a:t>
            </a:r>
            <a:r>
              <a:rPr lang="ja-JP" altLang="en-US" sz="919" b="0">
                <a:solidFill>
                  <a:srgbClr val="EDE3DA"/>
                </a:solidFill>
                <a:latin typeface="Yu Gothic"/>
              </a:rPr>
              <a:t>おみくじは更新頻度が高く</a:t>
            </a:r>
            <a:r>
              <a:rPr sz="919" b="0">
                <a:solidFill>
                  <a:srgbClr val="EDE3DA"/>
                </a:solidFill>
                <a:latin typeface="Yu Gothic"/>
              </a:rPr>
              <a:t>、LINE/SNS/QRから直接使う施策のため、初期は独立運用の方が速い。LINEはその後の継続接点として使う。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7010" y="4461854"/>
            <a:ext cx="4634345" cy="194933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239492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sz="2800"/>
          </a:p>
        </p:txBody>
      </p:sp>
      <p:sp>
        <p:nvSpPr>
          <p:cNvPr id="23" name="Shape 21"/>
          <p:cNvSpPr/>
          <p:nvPr/>
        </p:nvSpPr>
        <p:spPr>
          <a:xfrm>
            <a:off x="900499" y="4627277"/>
            <a:ext cx="1233194" cy="347472"/>
          </a:xfrm>
          <a:prstGeom prst="roundRect">
            <a:avLst>
              <a:gd name="adj" fmla="val 26316"/>
            </a:avLst>
          </a:prstGeom>
          <a:solidFill>
            <a:srgbClr val="239492"/>
          </a:solidFill>
          <a:ln w="12700">
            <a:solidFill>
              <a:srgbClr val="239492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24" name="Text 22"/>
          <p:cNvSpPr/>
          <p:nvPr/>
        </p:nvSpPr>
        <p:spPr>
          <a:xfrm>
            <a:off x="859350" y="4688889"/>
            <a:ext cx="1274343" cy="2242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共通方針</a:t>
            </a:r>
            <a:endParaRPr lang="en-US" sz="300" dirty="0"/>
          </a:p>
        </p:txBody>
      </p:sp>
      <p:sp>
        <p:nvSpPr>
          <p:cNvPr id="25" name="Text 23"/>
          <p:cNvSpPr/>
          <p:nvPr/>
        </p:nvSpPr>
        <p:spPr>
          <a:xfrm rot="10800000" flipV="1">
            <a:off x="846464" y="5185474"/>
            <a:ext cx="4414891" cy="3063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200" dirty="0" err="1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LINE登録は必須にせず、結果後の任意導線にする</a:t>
            </a:r>
            <a:r>
              <a:rPr 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81728" y="5481827"/>
            <a:ext cx="2843784" cy="189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共通方針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 rot="10800000" flipV="1">
            <a:off x="838625" y="5574179"/>
            <a:ext cx="4414891" cy="24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r>
              <a:rPr lang="en-US" sz="120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秒健康チェックとおみくじは同じページに詰め込まない</a:t>
            </a:r>
            <a:r>
              <a:rPr 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5481828"/>
            <a:ext cx="28437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共通方針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 rot="10800000" flipV="1">
            <a:off x="846463" y="5914868"/>
            <a:ext cx="4439019" cy="239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200" dirty="0" err="1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EC・Amazonへの購入ボタンを結果画面で優先表示する</a:t>
            </a:r>
            <a:r>
              <a:rPr lang="en-US" sz="12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パターンA：既存ECサイト内に設置する場合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109728" cy="365760"/>
          </a:xfrm>
          <a:prstGeom prst="rect">
            <a:avLst/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信頼感と購入導線は強いが、他社制作会社との調整が前提になる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78440" y="292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A87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追加ページ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1920240" cy="310896"/>
          </a:xfrm>
          <a:prstGeom prst="roundRect">
            <a:avLst>
              <a:gd name="adj" fmla="val 35294"/>
            </a:avLst>
          </a:prstGeom>
          <a:solidFill>
            <a:srgbClr val="F4A23A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67512" y="965940"/>
            <a:ext cx="177393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既存ECサイト内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 / QR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8559" y="2048691"/>
            <a:ext cx="169164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健康チェックまたはおみくじへ直接誘導</a:t>
            </a:r>
            <a:endParaRPr lang="en-US" sz="1000" b="1" dirty="0"/>
          </a:p>
        </p:txBody>
      </p:sp>
      <p:sp>
        <p:nvSpPr>
          <p:cNvPr id="12" name="Shape 10"/>
          <p:cNvSpPr/>
          <p:nvPr/>
        </p:nvSpPr>
        <p:spPr>
          <a:xfrm>
            <a:off x="269748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06324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15468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EC内ページ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954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/gacha /check をEC配下に作成</a:t>
            </a:r>
            <a:endParaRPr lang="en-US" sz="1000" b="1" dirty="0"/>
          </a:p>
        </p:txBody>
      </p:sp>
      <p:sp>
        <p:nvSpPr>
          <p:cNvPr id="16" name="Shape 14"/>
          <p:cNvSpPr/>
          <p:nvPr/>
        </p:nvSpPr>
        <p:spPr>
          <a:xfrm>
            <a:off x="507492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44068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53212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結果表示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8698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クーポン・診断結果を表示</a:t>
            </a:r>
            <a:endParaRPr lang="en-US" sz="1000" b="1" dirty="0"/>
          </a:p>
        </p:txBody>
      </p:sp>
      <p:sp>
        <p:nvSpPr>
          <p:cNvPr id="20" name="Shape 18"/>
          <p:cNvSpPr/>
          <p:nvPr/>
        </p:nvSpPr>
        <p:spPr>
          <a:xfrm>
            <a:off x="745236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81812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90956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商品ページ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442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既存ECの商品ページへ遷移</a:t>
            </a:r>
            <a:endParaRPr lang="en-US" sz="1000" b="1" dirty="0"/>
          </a:p>
        </p:txBody>
      </p:sp>
      <p:sp>
        <p:nvSpPr>
          <p:cNvPr id="24" name="Shape 22"/>
          <p:cNvSpPr/>
          <p:nvPr/>
        </p:nvSpPr>
        <p:spPr>
          <a:xfrm>
            <a:off x="982980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195560" y="1600200"/>
            <a:ext cx="1417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87000" y="174650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341864" y="2057400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次回通知・健康チェック配信</a:t>
            </a:r>
            <a:endParaRPr lang="en-US" sz="1000" b="1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813816" y="328269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3BA865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86968" y="3224091"/>
            <a:ext cx="302666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905256" y="3758184"/>
            <a:ext cx="29900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・公式サイト感が出る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・購入までの心理的距離が短い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・商品ページとの一体感が出る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・既存ECの決済・在庫・説明を活かせる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34840" y="31546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562856" y="328269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F4A23A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636008" y="3224091"/>
            <a:ext cx="302666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注意点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654296" y="3758184"/>
            <a:ext cx="29900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・制作会社への依頼が必要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・更新や改善に時間がかかる可能性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05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おみくじ演出や診断機能の自由度確認が必要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・タグ計測やログ取得の調整が必要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183880" y="31546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9B5B3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8311896" y="328269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385048" y="3224091"/>
            <a:ext cx="3026664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向いている場合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8403336" y="3758184"/>
            <a:ext cx="29900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・ECサイト改修がすぐできる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・制作会社の対応が早い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・EC内で完結させたい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・ブランド統一を最優先したい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5550408"/>
            <a:ext cx="10469880" cy="475488"/>
          </a:xfrm>
          <a:prstGeom prst="roundRect">
            <a:avLst>
              <a:gd name="adj" fmla="val 26923"/>
            </a:avLst>
          </a:prstGeom>
          <a:solidFill>
            <a:srgbClr val="FFF5D6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1051560" y="5577840"/>
            <a:ext cx="100126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判断：既存ECサイトの改修費・納期・機能制限が明確になってから本採用。初回検証にはやや重い可能性あり。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パターンB：別キャンペーンサイトを作る場合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109728" cy="365760"/>
          </a:xfrm>
          <a:prstGeom prst="rect">
            <a:avLst/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初回検証が速く、SNS・LINE・QRから直接使いやすい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378440" y="292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A87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追加ページ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2331720" cy="310896"/>
          </a:xfrm>
          <a:prstGeom prst="roundRect">
            <a:avLst>
              <a:gd name="adj" fmla="val 35294"/>
            </a:avLst>
          </a:prstGeom>
          <a:solidFill>
            <a:srgbClr val="3BA865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67512" y="1082317"/>
            <a:ext cx="218541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別キャンペーンサイト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 / QR / 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キャンペーンサイトへ直接誘導</a:t>
            </a:r>
            <a:endParaRPr lang="en-US" sz="1000" b="1" dirty="0"/>
          </a:p>
        </p:txBody>
      </p:sp>
      <p:sp>
        <p:nvSpPr>
          <p:cNvPr id="12" name="Shape 10"/>
          <p:cNvSpPr/>
          <p:nvPr/>
        </p:nvSpPr>
        <p:spPr>
          <a:xfrm>
            <a:off x="269748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06324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15468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専用サイトTOP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954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</a:t>
            </a:r>
            <a:r>
              <a:rPr lang="en-US" sz="1000" b="1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秒チェック / 健康おみくじを分岐</a:t>
            </a:r>
            <a:endParaRPr lang="en-US" sz="1000" b="1" dirty="0"/>
          </a:p>
        </p:txBody>
      </p:sp>
      <p:sp>
        <p:nvSpPr>
          <p:cNvPr id="16" name="Shape 14"/>
          <p:cNvSpPr/>
          <p:nvPr/>
        </p:nvSpPr>
        <p:spPr>
          <a:xfrm>
            <a:off x="507492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44068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53212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/gacha /check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8698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結果画面で商品提案</a:t>
            </a:r>
            <a:endParaRPr lang="en-US" sz="1000" b="1" dirty="0"/>
          </a:p>
        </p:txBody>
      </p:sp>
      <p:sp>
        <p:nvSpPr>
          <p:cNvPr id="20" name="Shape 18"/>
          <p:cNvSpPr/>
          <p:nvPr/>
        </p:nvSpPr>
        <p:spPr>
          <a:xfrm>
            <a:off x="745236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818120" y="1600200"/>
            <a:ext cx="18745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909560" y="174650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 / Amazon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4424" y="2057400"/>
            <a:ext cx="15819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既存ページへリンク遷移</a:t>
            </a:r>
            <a:endParaRPr lang="en-US" sz="1000" b="1" dirty="0"/>
          </a:p>
        </p:txBody>
      </p:sp>
      <p:sp>
        <p:nvSpPr>
          <p:cNvPr id="24" name="Shape 22"/>
          <p:cNvSpPr/>
          <p:nvPr/>
        </p:nvSpPr>
        <p:spPr>
          <a:xfrm>
            <a:off x="9829800" y="1901952"/>
            <a:ext cx="310896" cy="310896"/>
          </a:xfrm>
          <a:prstGeom prst="chevron">
            <a:avLst/>
          </a:prstGeom>
          <a:solidFill>
            <a:srgbClr val="BFAFA5"/>
          </a:solidFill>
          <a:ln w="12700">
            <a:solidFill>
              <a:srgbClr val="BFAFA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10195560" y="1600200"/>
            <a:ext cx="14173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10287000" y="174650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341864" y="2057400"/>
            <a:ext cx="11247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次回通知・再訪導線</a:t>
            </a:r>
            <a:endParaRPr lang="en-US" sz="1000" b="1" dirty="0"/>
          </a:p>
        </p:txBody>
      </p:sp>
      <p:sp>
        <p:nvSpPr>
          <p:cNvPr id="28" name="Shape 26"/>
          <p:cNvSpPr/>
          <p:nvPr/>
        </p:nvSpPr>
        <p:spPr>
          <a:xfrm>
            <a:off x="685800" y="31546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813816" y="328269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3BA865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86968" y="325526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905256" y="3758184"/>
            <a:ext cx="29900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・既存EC制作会社の調整が少ない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・小さく早く公開しやすい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・診断・</a:t>
            </a:r>
            <a:r>
              <a:rPr lang="en-US" sz="105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おみくじ演出を自由に作れる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・QR別、SNS別に効果測定しやすい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34840" y="31546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562856" y="328269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F4A23A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636008" y="325526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注意点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4654296" y="3758184"/>
            <a:ext cx="29900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・公式感を出すデザイン統一が必要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・個人情報を取る場合は注意文が必要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・EC遷移後の購入計測は工夫が必要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・別URLの社内承認が必要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83880" y="315468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9B5B3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5"/>
          <p:cNvSpPr/>
          <p:nvPr/>
        </p:nvSpPr>
        <p:spPr>
          <a:xfrm>
            <a:off x="8311896" y="328269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8385048" y="325526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向いている場合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8403336" y="3758184"/>
            <a:ext cx="2990088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・まず試したい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・キャンペーン更新が多い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・LINE/SNS/イベントQRで使いたい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・EC会社の改修を待ちたくない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2960" y="5550408"/>
            <a:ext cx="10469880" cy="475488"/>
          </a:xfrm>
          <a:prstGeom prst="roundRect">
            <a:avLst>
              <a:gd name="adj" fmla="val 26923"/>
            </a:avLst>
          </a:prstGeom>
          <a:solidFill>
            <a:srgbClr val="2F2A28"/>
          </a:solidFill>
          <a:ln w="12700">
            <a:solidFill>
              <a:srgbClr val="2F2A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1089660" y="5641848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100" b="1" dirty="0">
                <a:solidFill>
                  <a:srgbClr val="FFFFFF"/>
                </a:solidFill>
                <a:latin typeface="Yu Gothic"/>
              </a:rPr>
              <a:t>判断：初回はこのパターンを推奨。</a:t>
            </a:r>
            <a:r>
              <a:rPr lang="ja-JP" altLang="en-US" sz="1100" b="1">
                <a:solidFill>
                  <a:srgbClr val="FFFFFF"/>
                </a:solidFill>
                <a:latin typeface="Yu Gothic"/>
              </a:rPr>
              <a:t>30秒健康チェック</a:t>
            </a:r>
            <a:r>
              <a:rPr sz="1100" b="1" dirty="0">
                <a:solidFill>
                  <a:srgbClr val="FFFFFF"/>
                </a:solidFill>
                <a:latin typeface="Yu Gothic"/>
              </a:rPr>
              <a:t>・</a:t>
            </a:r>
            <a:r>
              <a:rPr lang="ja-JP" altLang="en-US" sz="1100" b="1">
                <a:solidFill>
                  <a:srgbClr val="FFFFFF"/>
                </a:solidFill>
                <a:latin typeface="Yu Gothic"/>
              </a:rPr>
              <a:t>おみくじを先に検証し</a:t>
            </a:r>
            <a:r>
              <a:rPr sz="1100" b="1" dirty="0">
                <a:solidFill>
                  <a:srgbClr val="FFFFFF"/>
                </a:solidFill>
                <a:latin typeface="Yu Gothic"/>
              </a:rPr>
              <a:t>、LINE導線とEC内設置は成果を見て段階的に強化する。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2パターン比較と推奨方針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20040" y="621792"/>
            <a:ext cx="109728" cy="365760"/>
          </a:xfrm>
          <a:prstGeom prst="rect">
            <a:avLst/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初回は別キャンペーンサイトで検証し</a:t>
            </a:r>
            <a:r>
              <a:rPr lang="en-US" sz="850" dirty="0">
                <a:solidFill>
                  <a:srgbClr val="6F625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、EC連携は成果を見て判断する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292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A87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追加ページ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005840"/>
            <a:ext cx="2286000" cy="411480"/>
          </a:xfrm>
          <a:prstGeom prst="rect">
            <a:avLst/>
          </a:prstGeom>
          <a:solidFill>
            <a:srgbClr val="239492"/>
          </a:solidFill>
          <a:ln w="12700">
            <a:solidFill>
              <a:srgbClr val="23949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67512" y="100584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比較項目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005840"/>
            <a:ext cx="4206240" cy="411480"/>
          </a:xfrm>
          <a:prstGeom prst="rect">
            <a:avLst/>
          </a:prstGeom>
          <a:solidFill>
            <a:srgbClr val="239492"/>
          </a:solidFill>
          <a:ln w="12700">
            <a:solidFill>
              <a:srgbClr val="23949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2953512" y="1005840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パターンA：既存ECサイト内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1005840"/>
            <a:ext cx="4206240" cy="411480"/>
          </a:xfrm>
          <a:prstGeom prst="rect">
            <a:avLst/>
          </a:prstGeom>
          <a:solidFill>
            <a:srgbClr val="3BA865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159752" y="1005840"/>
            <a:ext cx="4059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パターンB：別キャンペーンサイト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417320"/>
            <a:ext cx="2286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14" name="Text 12"/>
          <p:cNvSpPr/>
          <p:nvPr/>
        </p:nvSpPr>
        <p:spPr>
          <a:xfrm>
            <a:off x="685800" y="158191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公開スピード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141732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16" name="Text 14"/>
          <p:cNvSpPr/>
          <p:nvPr/>
        </p:nvSpPr>
        <p:spPr>
          <a:xfrm>
            <a:off x="2971800" y="158191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制作会社調整が必要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41732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18" name="Text 16"/>
          <p:cNvSpPr/>
          <p:nvPr/>
        </p:nvSpPr>
        <p:spPr>
          <a:xfrm>
            <a:off x="7178040" y="158191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早い。独立で作りやすい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1920240"/>
            <a:ext cx="228600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20" name="Text 18"/>
          <p:cNvSpPr/>
          <p:nvPr/>
        </p:nvSpPr>
        <p:spPr>
          <a:xfrm>
            <a:off x="685800" y="208483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ブランド信頼感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1920240"/>
            <a:ext cx="420624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22" name="Text 20"/>
          <p:cNvSpPr/>
          <p:nvPr/>
        </p:nvSpPr>
        <p:spPr>
          <a:xfrm>
            <a:off x="2971800" y="208483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公式EC内で安心感あり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1920240"/>
            <a:ext cx="420624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24" name="Text 22"/>
          <p:cNvSpPr/>
          <p:nvPr/>
        </p:nvSpPr>
        <p:spPr>
          <a:xfrm>
            <a:off x="7178040" y="208483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デザイン統一と公式リンクで補う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2423160"/>
            <a:ext cx="2286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26" name="Text 24"/>
          <p:cNvSpPr/>
          <p:nvPr/>
        </p:nvSpPr>
        <p:spPr>
          <a:xfrm>
            <a:off x="685800" y="258775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更新しやすさ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80360" y="242316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28" name="Text 26"/>
          <p:cNvSpPr/>
          <p:nvPr/>
        </p:nvSpPr>
        <p:spPr>
          <a:xfrm>
            <a:off x="2971800" y="258775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改修依頼が必要になりやすい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86600" y="242316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30" name="Text 28"/>
          <p:cNvSpPr/>
          <p:nvPr/>
        </p:nvSpPr>
        <p:spPr>
          <a:xfrm>
            <a:off x="7178040" y="258775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企画側で改善しやすい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28600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32" name="Text 30"/>
          <p:cNvSpPr/>
          <p:nvPr/>
        </p:nvSpPr>
        <p:spPr>
          <a:xfrm>
            <a:off x="685800" y="309067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おみくじ演出の自由度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80360" y="2926080"/>
            <a:ext cx="420624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34" name="Text 32"/>
          <p:cNvSpPr/>
          <p:nvPr/>
        </p:nvSpPr>
        <p:spPr>
          <a:xfrm>
            <a:off x="2971800" y="309067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EC仕様に左右される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86600" y="2926080"/>
            <a:ext cx="420624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36" name="Text 34"/>
          <p:cNvSpPr/>
          <p:nvPr/>
        </p:nvSpPr>
        <p:spPr>
          <a:xfrm>
            <a:off x="7178040" y="309067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自由に作りやすい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3429000"/>
            <a:ext cx="2286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38" name="Text 36"/>
          <p:cNvSpPr/>
          <p:nvPr/>
        </p:nvSpPr>
        <p:spPr>
          <a:xfrm>
            <a:off x="685800" y="359359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EC購入導線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80360" y="342900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40" name="Text 38"/>
          <p:cNvSpPr/>
          <p:nvPr/>
        </p:nvSpPr>
        <p:spPr>
          <a:xfrm>
            <a:off x="2971800" y="359359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同一サイトで購入に近い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86600" y="342900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42" name="Text 40"/>
          <p:cNvSpPr/>
          <p:nvPr/>
        </p:nvSpPr>
        <p:spPr>
          <a:xfrm>
            <a:off x="7178040" y="359359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結果画面からEC/Amazonへ遷移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" y="3931920"/>
            <a:ext cx="228600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44" name="Text 42"/>
          <p:cNvSpPr/>
          <p:nvPr/>
        </p:nvSpPr>
        <p:spPr>
          <a:xfrm>
            <a:off x="685800" y="409651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80360" y="3931920"/>
            <a:ext cx="420624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46" name="Text 44"/>
          <p:cNvSpPr/>
          <p:nvPr/>
        </p:nvSpPr>
        <p:spPr>
          <a:xfrm>
            <a:off x="2971800" y="409651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EC側設定に依存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86600" y="3931920"/>
            <a:ext cx="4206240" cy="502920"/>
          </a:xfrm>
          <a:prstGeom prst="rect">
            <a:avLst/>
          </a:prstGeom>
          <a:solidFill>
            <a:srgbClr val="F8F1EA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 sz="1100"/>
          </a:p>
        </p:txBody>
      </p:sp>
      <p:sp>
        <p:nvSpPr>
          <p:cNvPr id="48" name="Text 46"/>
          <p:cNvSpPr/>
          <p:nvPr/>
        </p:nvSpPr>
        <p:spPr>
          <a:xfrm>
            <a:off x="7178040" y="409651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URL/QR/UTMで分けやすい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4360" y="4434840"/>
            <a:ext cx="22860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8"/>
          <p:cNvSpPr/>
          <p:nvPr/>
        </p:nvSpPr>
        <p:spPr>
          <a:xfrm>
            <a:off x="685800" y="459943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初回おすすめ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80360" y="443484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Text 50"/>
          <p:cNvSpPr/>
          <p:nvPr/>
        </p:nvSpPr>
        <p:spPr>
          <a:xfrm>
            <a:off x="2971800" y="459943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△ 条件次第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86600" y="4434840"/>
            <a:ext cx="420624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E0D2C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7178040" y="4599432"/>
            <a:ext cx="4023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F2A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推奨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77240" y="5349240"/>
            <a:ext cx="3429000" cy="1093124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3BA865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905256" y="547725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3BA865"/>
          </a:solidFill>
          <a:ln w="12700">
            <a:solidFill>
              <a:srgbClr val="3BA86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978408" y="5542095"/>
            <a:ext cx="30266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推奨ステップ1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96696" y="5852160"/>
            <a:ext cx="2990088" cy="590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sz="800" b="0">
                <a:solidFill>
                  <a:srgbClr val="2F2A28"/>
                </a:solidFill>
                <a:latin typeface="Yu Gothic"/>
              </a:rPr>
              <a:t>別キャンペーンサイトで /gacha と /check を同じ優先順位で先に公開する。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34840" y="5349240"/>
            <a:ext cx="3429000" cy="1093124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4A23A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4562856" y="547725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F4A23A"/>
          </a:solidFill>
          <a:ln w="12700">
            <a:solidFill>
              <a:srgbClr val="F4A23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4636008" y="5542095"/>
            <a:ext cx="30266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推奨ステップ2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654296" y="5852160"/>
            <a:ext cx="2990088" cy="590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sz="800" b="0">
                <a:solidFill>
                  <a:srgbClr val="2F2A28"/>
                </a:solidFill>
                <a:latin typeface="Yu Gothic"/>
              </a:rPr>
              <a:t>結果画面から既存EC・Amazonへリンクし、</a:t>
            </a:r>
            <a:r>
              <a:rPr lang="ja-JP" altLang="en-US" sz="800" b="0">
                <a:solidFill>
                  <a:srgbClr val="2F2A28"/>
                </a:solidFill>
                <a:latin typeface="Yu Gothic"/>
              </a:rPr>
              <a:t>健康チェック回答数</a:t>
            </a:r>
            <a:r>
              <a:rPr sz="800" b="0">
                <a:solidFill>
                  <a:srgbClr val="2F2A28"/>
                </a:solidFill>
                <a:latin typeface="Yu Gothic"/>
              </a:rPr>
              <a:t>・</a:t>
            </a:r>
            <a:r>
              <a:rPr lang="ja-JP" altLang="en-US" sz="800" b="0">
                <a:solidFill>
                  <a:srgbClr val="2F2A28"/>
                </a:solidFill>
                <a:latin typeface="Yu Gothic"/>
              </a:rPr>
              <a:t>おみくじ参加数</a:t>
            </a:r>
            <a:r>
              <a:rPr sz="800" b="0">
                <a:solidFill>
                  <a:srgbClr val="2F2A28"/>
                </a:solidFill>
                <a:latin typeface="Yu Gothic"/>
              </a:rPr>
              <a:t>・クリック数を測定する。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92440" y="5349240"/>
            <a:ext cx="3429000" cy="1093124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49B5B3"/>
            </a:solidFill>
            <a:prstDash val="solid"/>
          </a:ln>
          <a:effectLst>
            <a:outerShdw blurRad="12700" dist="5715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8220456" y="5477256"/>
            <a:ext cx="3172968" cy="347472"/>
          </a:xfrm>
          <a:prstGeom prst="roundRect">
            <a:avLst>
              <a:gd name="adj" fmla="val 26316"/>
            </a:avLst>
          </a:prstGeom>
          <a:solidFill>
            <a:srgbClr val="49B5B3"/>
          </a:solidFill>
          <a:ln w="12700">
            <a:solidFill>
              <a:srgbClr val="49B5B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8293608" y="5542095"/>
            <a:ext cx="302666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推奨ステップ3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311896" y="5852160"/>
            <a:ext cx="2990088" cy="5902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sz="800" b="0">
                <a:solidFill>
                  <a:srgbClr val="2F2A28"/>
                </a:solidFill>
                <a:latin typeface="Yu Gothic"/>
              </a:rPr>
              <a:t>数字が見えたら、公式LINEの再訪導線やEC内設置・本格連携を検討する。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2058</Words>
  <Application>Microsoft Office PowerPoint</Application>
  <PresentationFormat>ワイド画面</PresentationFormat>
  <Paragraphs>302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Noto Sans CJK JP</vt:lpstr>
      <vt:lpstr>Noto Sans CJK JP 本文</vt:lpstr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みんたむ健康ガチャ 販促導線設計 修正版</dc:title>
  <dc:subject>みんたむ健康ガチャ 導線設計・優先順位 修正版</dc:subject>
  <dc:creator>柳生 彪</dc:creator>
  <cp:lastModifiedBy>柳生 彪</cp:lastModifiedBy>
  <cp:revision>24</cp:revision>
  <cp:lastPrinted>2026-08-04T08:35:43Z</cp:lastPrinted>
  <dcterms:created xsi:type="dcterms:W3CDTF">2026-08-05T03:05:23Z</dcterms:created>
  <dcterms:modified xsi:type="dcterms:W3CDTF">2026-08-07T03:00:08Z</dcterms:modified>
</cp:coreProperties>
</file>